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0" r:id="rId13"/>
    <p:sldId id="267" r:id="rId14"/>
    <p:sldId id="281" r:id="rId15"/>
    <p:sldId id="268" r:id="rId16"/>
    <p:sldId id="282" r:id="rId17"/>
    <p:sldId id="269" r:id="rId18"/>
    <p:sldId id="283" r:id="rId19"/>
    <p:sldId id="270" r:id="rId20"/>
    <p:sldId id="284" r:id="rId21"/>
    <p:sldId id="271" r:id="rId22"/>
    <p:sldId id="285" r:id="rId23"/>
    <p:sldId id="272" r:id="rId24"/>
    <p:sldId id="286" r:id="rId25"/>
    <p:sldId id="273" r:id="rId26"/>
    <p:sldId id="287" r:id="rId27"/>
    <p:sldId id="274" r:id="rId28"/>
    <p:sldId id="288" r:id="rId29"/>
    <p:sldId id="289" r:id="rId30"/>
    <p:sldId id="275" r:id="rId31"/>
    <p:sldId id="290" r:id="rId32"/>
    <p:sldId id="276" r:id="rId33"/>
    <p:sldId id="277" r:id="rId34"/>
    <p:sldId id="278" r:id="rId35"/>
    <p:sldId id="27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4746" autoAdjust="0"/>
  </p:normalViewPr>
  <p:slideViewPr>
    <p:cSldViewPr snapToGrid="0">
      <p:cViewPr varScale="1">
        <p:scale>
          <a:sx n="58" d="100"/>
          <a:sy n="58" d="100"/>
        </p:scale>
        <p:origin x="12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3319B-CAF9-40E6-8D77-290012749C6D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791A6-AD0E-47FC-8F6E-8F22BD60EAA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8399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Catatan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Presenter]: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Ajak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audiens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berinteraksi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Siapa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masih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ingat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perbedaan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threat dan vulnerability?"</a:t>
            </a:r>
          </a:p>
          <a:p>
            <a:br>
              <a:rPr lang="en-ID" dirty="0"/>
            </a:b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791A6-AD0E-47FC-8F6E-8F22BD60EAA0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9482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Catatan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Presenter]: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Tekankan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bahwa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fokus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kita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pencegahan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mitigasi</a:t>
            </a:r>
            <a:r>
              <a:rPr lang="en-I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791A6-AD0E-47FC-8F6E-8F22BD60EAA0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1991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791A6-AD0E-47FC-8F6E-8F22BD60EAA0}" type="slidenum">
              <a:rPr lang="en-ID" smtClean="0"/>
              <a:t>22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6596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lojik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aneh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791A6-AD0E-47FC-8F6E-8F22BD60EAA0}" type="slidenum">
              <a:rPr lang="en-ID" smtClean="0"/>
              <a:t>26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1782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DECD-4A1E-8C91-AC05-90011D294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0625F-74CE-08A9-36FF-4353128B9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61613-F88A-1569-991E-CE30A69B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A8332-4495-8914-0E03-21FA96DFA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FB494-E577-0A5F-8F64-7818FAA4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2121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1753-F9BD-F100-72D5-5E1631BEE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377CC-76D3-F429-61DB-8C8D8A83E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422CE-D9AC-0AA0-8ADC-ED0B98FE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AC1B9-B6B6-6BC3-1A24-C7C7BE9B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C9A66-D5F2-F8A5-9428-487AF5921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1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95C0-054F-9BC7-9079-9F233D059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91FC5-2198-AA3B-7B3F-83D386BC9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72278-33B7-A9C3-7C4E-B0BC9E17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F62E4-87D7-77BC-F3AC-22084CC4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494B8-1504-2A10-AFC6-505B55D4C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82A4-3490-CC43-F942-9ABA655A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AC194-5F07-BF18-6B0F-90846C914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468E7-FB41-B029-421C-77FFC5A20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C362F-EA5C-4E86-C5D5-1DB51BE95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47EBF-30CA-1702-E304-8EDF87B75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B66EA-B623-2F20-EE9F-D717147EF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991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E5BF-F018-CC06-E484-72FBD4FD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08A0-578A-2386-B6DD-7738695AE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4E337-09F9-19D0-28A0-32CFA86A5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AD7FD1-D9C9-0986-D3DE-941690D41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58AD1-865B-2BFA-0051-2B3E28049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6357-A2F2-2CB1-73A2-D24970DE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B74F29-43F0-0D3B-F79A-12C1C811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17BDC-D5A4-1F66-F501-26C304BF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5764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018A-2A00-E769-5EB5-D1D45FF04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97426-DA24-125F-A1FD-CF34E8B9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8DAC4-310C-C64F-EBC7-CA4DDD84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36E12-89A4-FC62-86F9-8E7DE77F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955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7B03A-ACE1-B046-47E5-8906D00E1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47C22-0B30-10F9-2388-0E742E13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87EA4-4CFC-FA0A-234E-EC534B6B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102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4DC6-95B7-75C4-108E-41E122009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02E50-6319-8C38-8722-FD47B53C1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EC0DE-C4B4-6FC3-E2B4-1DCAC24DA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4B38E-676C-624D-3117-C41B3CCC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13DD3-B4C9-3ECE-0E38-F6B91F25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88961-1B6C-C3EE-70F7-B1F8EF35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465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68B03-7A4C-1B66-D95E-7BF9E3AA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C49079-54C0-5A79-1E9F-2C41BEA8D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70C86-F6ED-C72A-D93F-2EB70A715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2C140-2037-9175-C350-4667C869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61482-A0A5-862A-87BF-18A626A2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4A062-6744-88D3-F601-C0E5B6CC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040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6E6C-97AB-2510-71E7-BB0855EE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65BC2-AD1F-AE82-3689-F7C7CEFBD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7144B-3C70-0268-D986-DD869C6EA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8BA3B-E2E5-332C-F385-78635D98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F6C34-980D-6AAD-8C06-0AB48B21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6397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B546BC-7D1C-C801-BB31-6EC7AB58D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14161-241E-5556-7C0D-696967987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248D9-4BE0-70E7-C0B5-29A2205D7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38759-7FAD-4605-C10F-7506BAC41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1BE8C-5F58-DDF5-3DA1-F690F7CB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945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D04D8-BD89-E881-2F37-9E96C595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F3E75-AD62-8B21-E9C2-B2EAC9B5A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AE543-7C1D-3622-9B6E-712AB6630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C36BB-550C-4EA1-A35D-2CD14A5DADD4}" type="datetimeFigureOut">
              <a:rPr lang="en-ID" smtClean="0"/>
              <a:t>09/11/2025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33349-3FB4-6E77-3690-08B328BD6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31078-3843-8294-48A6-4B58297A9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D436D-7BB8-4CE6-B921-210707516E3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1338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E0ACE-B8A3-E941-11E9-957E8E9407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Web Application Threats and OWASP Top 10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44322-2EE5-A6E1-D1F6-FC60FE1B6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1793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F0AAAE-DC0D-7E77-D9CE-11347771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PEMBUKAAN &amp; KONTEKS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6A770-CD77-DB9F-C1E7-72B651EF8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736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CDFE1F-17D8-3C71-D53C-0C557AFA4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Ancaman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Web &amp; OWASP Top 10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E64B53-F20E-78E2-86D1-81451B491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Memahami dan Mengatasi Risiko Keamanan Digital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4290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C275-124B-FF56-3615-D0BCD4D8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Apa yang Akan Kita Bahas?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AF255-BB6B-FB7B-1051-AAD62E924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Recap Day 1: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Fundamental </a:t>
            </a:r>
            <a:r>
              <a:rPr lang="en-ID" dirty="0" err="1"/>
              <a:t>Keamanan</a:t>
            </a:r>
            <a:r>
              <a:rPr lang="en-ID" dirty="0"/>
              <a:t> Web</a:t>
            </a:r>
          </a:p>
          <a:p>
            <a:r>
              <a:rPr lang="en-ID" b="1" dirty="0" err="1"/>
              <a:t>Mengapa</a:t>
            </a:r>
            <a:r>
              <a:rPr lang="en-ID" b="1" dirty="0"/>
              <a:t> Ini </a:t>
            </a:r>
            <a:r>
              <a:rPr lang="en-ID" b="1" dirty="0" err="1"/>
              <a:t>Penting</a:t>
            </a:r>
            <a:r>
              <a:rPr lang="en-ID" b="1" dirty="0"/>
              <a:t>?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Celah </a:t>
            </a:r>
            <a:r>
              <a:rPr lang="en-ID" dirty="0" err="1"/>
              <a:t>Keamanan</a:t>
            </a:r>
            <a:endParaRPr lang="en-ID" dirty="0"/>
          </a:p>
          <a:p>
            <a:r>
              <a:rPr lang="en-ID" b="1" dirty="0" err="1"/>
              <a:t>Pengenalan</a:t>
            </a:r>
            <a:r>
              <a:rPr lang="en-ID" b="1" dirty="0"/>
              <a:t> OWASP: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Global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Aplikasi</a:t>
            </a:r>
            <a:endParaRPr lang="en-ID" dirty="0"/>
          </a:p>
          <a:p>
            <a:r>
              <a:rPr lang="en-ID" b="1" dirty="0"/>
              <a:t>Deep Dive OWASP Top 10 2021:</a:t>
            </a:r>
            <a:r>
              <a:rPr lang="en-ID" dirty="0"/>
              <a:t> 10 </a:t>
            </a:r>
            <a:r>
              <a:rPr lang="en-ID" dirty="0" err="1"/>
              <a:t>Ancaman</a:t>
            </a:r>
            <a:r>
              <a:rPr lang="en-ID" dirty="0"/>
              <a:t> </a:t>
            </a:r>
            <a:r>
              <a:rPr lang="en-ID" dirty="0" err="1"/>
              <a:t>Teratas</a:t>
            </a:r>
            <a:endParaRPr lang="en-ID" dirty="0"/>
          </a:p>
          <a:p>
            <a:r>
              <a:rPr lang="en-ID" b="1" dirty="0" err="1"/>
              <a:t>Mengatasi</a:t>
            </a:r>
            <a:r>
              <a:rPr lang="en-ID" b="1" dirty="0"/>
              <a:t> </a:t>
            </a:r>
            <a:r>
              <a:rPr lang="en-ID" b="1" dirty="0" err="1"/>
              <a:t>Ancaman</a:t>
            </a:r>
            <a:r>
              <a:rPr lang="en-ID" b="1" dirty="0"/>
              <a:t>:</a:t>
            </a:r>
            <a:r>
              <a:rPr lang="en-ID" dirty="0"/>
              <a:t> Strategi </a:t>
            </a:r>
            <a:r>
              <a:rPr lang="en-ID" dirty="0" err="1"/>
              <a:t>Pencegahan</a:t>
            </a:r>
            <a:endParaRPr lang="en-ID" dirty="0"/>
          </a:p>
          <a:p>
            <a:r>
              <a:rPr lang="en-ID" b="1" dirty="0"/>
              <a:t>Q&amp;A dan </a:t>
            </a:r>
            <a:r>
              <a:rPr lang="en-ID" b="1" dirty="0" err="1"/>
              <a:t>Diskusi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5775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F138-D6AE-0F9A-21A2-56EBF564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Mengingat</a:t>
            </a:r>
            <a:r>
              <a:rPr lang="en-ID" dirty="0"/>
              <a:t>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70999-7C87-2233-72DB-1EF45D78E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effectLst/>
                <a:latin typeface="ui-sans-serif"/>
              </a:rPr>
              <a:t>Apa </a:t>
            </a:r>
            <a:r>
              <a:rPr lang="en-ID" b="0" i="0" dirty="0" err="1">
                <a:effectLst/>
                <a:latin typeface="ui-sans-serif"/>
              </a:rPr>
              <a:t>itu</a:t>
            </a:r>
            <a:r>
              <a:rPr lang="en-ID" b="0" i="0" dirty="0">
                <a:effectLst/>
                <a:latin typeface="ui-sans-serif"/>
              </a:rPr>
              <a:t> </a:t>
            </a:r>
            <a:r>
              <a:rPr lang="en-ID" b="0" i="0" dirty="0" err="1">
                <a:effectLst/>
                <a:latin typeface="ui-sans-serif"/>
              </a:rPr>
              <a:t>Aplikasi</a:t>
            </a:r>
            <a:r>
              <a:rPr lang="en-ID" b="0" i="0" dirty="0">
                <a:effectLst/>
                <a:latin typeface="ui-sans-serif"/>
              </a:rPr>
              <a:t> Web? (Frontend, Backend, Database)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effectLst/>
                <a:latin typeface="ui-sans-serif"/>
              </a:rPr>
              <a:t>Konsep</a:t>
            </a:r>
            <a:r>
              <a:rPr lang="en-ID" b="0" i="0" dirty="0">
                <a:effectLst/>
                <a:latin typeface="ui-sans-serif"/>
              </a:rPr>
              <a:t> </a:t>
            </a:r>
            <a:r>
              <a:rPr lang="en-ID" b="0" i="0" dirty="0" err="1">
                <a:effectLst/>
                <a:latin typeface="ui-sans-serif"/>
              </a:rPr>
              <a:t>Keamanan</a:t>
            </a:r>
            <a:r>
              <a:rPr lang="en-ID" b="0" i="0" dirty="0">
                <a:effectLst/>
                <a:latin typeface="ui-sans-serif"/>
              </a:rPr>
              <a:t> Dasar:(Confidentiality, Integrity, Availability)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effectLst/>
                <a:latin typeface="ui-sans-serif"/>
              </a:rPr>
              <a:t>Apa </a:t>
            </a:r>
            <a:r>
              <a:rPr lang="en-ID" b="0" i="0" dirty="0" err="1">
                <a:effectLst/>
                <a:latin typeface="ui-sans-serif"/>
              </a:rPr>
              <a:t>itu</a:t>
            </a:r>
            <a:r>
              <a:rPr lang="en-ID" b="0" i="0" dirty="0">
                <a:effectLst/>
                <a:latin typeface="ui-sans-serif"/>
              </a:rPr>
              <a:t> </a:t>
            </a:r>
            <a:r>
              <a:rPr lang="en-ID" b="0" i="1" dirty="0">
                <a:effectLst/>
                <a:latin typeface="ui-sans-serif"/>
              </a:rPr>
              <a:t>Threat</a:t>
            </a:r>
            <a:r>
              <a:rPr lang="en-ID" b="0" i="0" dirty="0">
                <a:effectLst/>
                <a:latin typeface="ui-sans-serif"/>
              </a:rPr>
              <a:t> dan </a:t>
            </a:r>
            <a:r>
              <a:rPr lang="en-ID" b="0" i="1" dirty="0">
                <a:effectLst/>
                <a:latin typeface="ui-sans-serif"/>
              </a:rPr>
              <a:t>Vulnerability</a:t>
            </a:r>
            <a:r>
              <a:rPr lang="en-ID" b="0" i="0" dirty="0">
                <a:effectLst/>
                <a:latin typeface="ui-sans-serif"/>
              </a:rPr>
              <a:t>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effectLst/>
                <a:latin typeface="ui-sans-serif"/>
              </a:rPr>
              <a:t>Model </a:t>
            </a:r>
            <a:r>
              <a:rPr lang="en-ID" b="0" i="0" dirty="0" err="1">
                <a:effectLst/>
                <a:latin typeface="ui-sans-serif"/>
              </a:rPr>
              <a:t>ancaman</a:t>
            </a:r>
            <a:r>
              <a:rPr lang="en-ID" b="0" i="0" dirty="0">
                <a:effectLst/>
                <a:latin typeface="ui-sans-serif"/>
              </a:rPr>
              <a:t> </a:t>
            </a:r>
            <a:r>
              <a:rPr lang="en-ID" b="0" i="0" dirty="0" err="1">
                <a:effectLst/>
                <a:latin typeface="ui-sans-serif"/>
              </a:rPr>
              <a:t>dasar</a:t>
            </a:r>
            <a:r>
              <a:rPr lang="en-ID" b="0" i="0" dirty="0">
                <a:effectLst/>
                <a:latin typeface="ui-sans-serif"/>
              </a:rPr>
              <a:t> (Attacker, Vector, Impact).</a:t>
            </a:r>
          </a:p>
        </p:txBody>
      </p:sp>
    </p:spTree>
    <p:extLst>
      <p:ext uri="{BB962C8B-B14F-4D97-AF65-F5344CB8AC3E}">
        <p14:creationId xmlns:p14="http://schemas.microsoft.com/office/powerpoint/2010/main" val="358232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3825-2DF0-DFB1-20DA-E5ED5A85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Kesalahan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F08FB-E7AB-0982-6BFA-3EE60818D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Statistik</a:t>
            </a:r>
            <a:r>
              <a:rPr lang="en-ID" b="1" dirty="0"/>
              <a:t> </a:t>
            </a:r>
            <a:r>
              <a:rPr lang="en-ID" b="1" dirty="0" err="1"/>
              <a:t>Mengejutkan</a:t>
            </a:r>
            <a:r>
              <a:rPr lang="en-ID" b="1" dirty="0"/>
              <a:t>:</a:t>
            </a:r>
            <a:r>
              <a:rPr lang="en-ID" dirty="0"/>
              <a:t> "</a:t>
            </a:r>
            <a:r>
              <a:rPr lang="en-ID" dirty="0" err="1"/>
              <a:t>Kerugian</a:t>
            </a:r>
            <a:r>
              <a:rPr lang="en-ID" dirty="0"/>
              <a:t> rata-rata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i="1" dirty="0"/>
              <a:t>data breach</a:t>
            </a:r>
            <a:r>
              <a:rPr lang="en-ID" dirty="0"/>
              <a:t> pada </a:t>
            </a:r>
            <a:r>
              <a:rPr lang="en-ID" dirty="0" err="1"/>
              <a:t>tahun</a:t>
            </a:r>
            <a:r>
              <a:rPr lang="en-ID" dirty="0"/>
              <a:t> 2023 </a:t>
            </a:r>
            <a:r>
              <a:rPr lang="en-ID" dirty="0" err="1"/>
              <a:t>mencapai</a:t>
            </a:r>
            <a:r>
              <a:rPr lang="en-ID" dirty="0"/>
              <a:t> </a:t>
            </a:r>
            <a:r>
              <a:rPr lang="en-ID" b="1" dirty="0"/>
              <a:t>$4.45 Juta</a:t>
            </a:r>
            <a:r>
              <a:rPr lang="en-ID" dirty="0"/>
              <a:t>." (</a:t>
            </a:r>
            <a:r>
              <a:rPr lang="en-ID" dirty="0" err="1"/>
              <a:t>Sumber</a:t>
            </a:r>
            <a:r>
              <a:rPr lang="en-ID" dirty="0"/>
              <a:t>: IBM)</a:t>
            </a:r>
          </a:p>
          <a:p>
            <a:r>
              <a:rPr lang="en-ID" b="1" dirty="0" err="1"/>
              <a:t>Contoh</a:t>
            </a:r>
            <a:r>
              <a:rPr lang="en-ID" b="1" dirty="0"/>
              <a:t> Kasus Dunia </a:t>
            </a:r>
            <a:r>
              <a:rPr lang="en-ID" b="1" dirty="0" err="1"/>
              <a:t>Nyata</a:t>
            </a:r>
            <a:r>
              <a:rPr lang="en-ID" b="1" dirty="0"/>
              <a:t>:</a:t>
            </a:r>
            <a:endParaRPr lang="en-ID" dirty="0"/>
          </a:p>
          <a:p>
            <a:pPr lvl="1"/>
            <a:r>
              <a:rPr lang="en-ID" b="1" dirty="0"/>
              <a:t>Equifax (2017):</a:t>
            </a:r>
            <a:r>
              <a:rPr lang="en-ID" dirty="0"/>
              <a:t> Data 147 </a:t>
            </a:r>
            <a:r>
              <a:rPr lang="en-ID" dirty="0" err="1"/>
              <a:t>juta</a:t>
            </a:r>
            <a:r>
              <a:rPr lang="en-ID" dirty="0"/>
              <a:t> orang bocor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i="1" dirty="0"/>
              <a:t>vulnerable component</a:t>
            </a:r>
            <a:r>
              <a:rPr lang="en-ID" dirty="0"/>
              <a:t>. </a:t>
            </a:r>
            <a:r>
              <a:rPr lang="en-ID" dirty="0" err="1"/>
              <a:t>Kerugian</a:t>
            </a:r>
            <a:r>
              <a:rPr lang="en-ID" dirty="0"/>
              <a:t> &gt; $1.4 </a:t>
            </a:r>
            <a:r>
              <a:rPr lang="en-ID" dirty="0" err="1"/>
              <a:t>Miliar</a:t>
            </a:r>
            <a:r>
              <a:rPr lang="en-ID" dirty="0"/>
              <a:t>.</a:t>
            </a:r>
          </a:p>
          <a:p>
            <a:pPr lvl="1"/>
            <a:r>
              <a:rPr lang="en-ID" b="1" dirty="0"/>
              <a:t>LinkedIn (2021):</a:t>
            </a:r>
            <a:r>
              <a:rPr lang="en-ID" dirty="0"/>
              <a:t> Data 700 </a:t>
            </a:r>
            <a:r>
              <a:rPr lang="en-ID" dirty="0" err="1"/>
              <a:t>juta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dijual</a:t>
            </a:r>
            <a:r>
              <a:rPr lang="en-ID" dirty="0"/>
              <a:t> di forum hacker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i="1" dirty="0"/>
              <a:t>scraping</a:t>
            </a:r>
            <a:r>
              <a:rPr lang="en-ID" dirty="0"/>
              <a:t> dan </a:t>
            </a:r>
            <a:r>
              <a:rPr lang="en-ID" i="1" dirty="0"/>
              <a:t>API abuse</a:t>
            </a:r>
            <a:r>
              <a:rPr lang="en-ID" dirty="0"/>
              <a:t>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Kehilangan</a:t>
            </a:r>
            <a:r>
              <a:rPr lang="en-ID" dirty="0"/>
              <a:t> </a:t>
            </a:r>
            <a:r>
              <a:rPr lang="en-ID" dirty="0" err="1"/>
              <a:t>kepercayaan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, </a:t>
            </a:r>
            <a:r>
              <a:rPr lang="en-ID" dirty="0" err="1"/>
              <a:t>kerugian</a:t>
            </a:r>
            <a:r>
              <a:rPr lang="en-ID" dirty="0"/>
              <a:t> </a:t>
            </a:r>
            <a:r>
              <a:rPr lang="en-ID" dirty="0" err="1"/>
              <a:t>finansial</a:t>
            </a:r>
            <a:r>
              <a:rPr lang="en-ID" dirty="0"/>
              <a:t>, </a:t>
            </a:r>
            <a:r>
              <a:rPr lang="en-ID" dirty="0" err="1"/>
              <a:t>sanksi</a:t>
            </a:r>
            <a:r>
              <a:rPr lang="en-ID" dirty="0"/>
              <a:t> </a:t>
            </a:r>
            <a:r>
              <a:rPr lang="en-ID" dirty="0" err="1"/>
              <a:t>hukum</a:t>
            </a:r>
            <a:r>
              <a:rPr lang="en-ID" dirty="0"/>
              <a:t>, dan </a:t>
            </a:r>
            <a:r>
              <a:rPr lang="en-ID" dirty="0" err="1"/>
              <a:t>rusaknya</a:t>
            </a:r>
            <a:r>
              <a:rPr lang="en-ID" dirty="0"/>
              <a:t> </a:t>
            </a:r>
            <a:r>
              <a:rPr lang="en-ID" dirty="0" err="1"/>
              <a:t>reputasi</a:t>
            </a:r>
            <a:r>
              <a:rPr lang="en-ID" dirty="0"/>
              <a:t> brand.</a:t>
            </a:r>
          </a:p>
        </p:txBody>
      </p:sp>
    </p:spTree>
    <p:extLst>
      <p:ext uri="{BB962C8B-B14F-4D97-AF65-F5344CB8AC3E}">
        <p14:creationId xmlns:p14="http://schemas.microsoft.com/office/powerpoint/2010/main" val="3504537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9C6E-82FF-3BDA-9C06-CA404D57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Siapa Penyerang dan Apa Motivasi Mereka?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AE7B9-EA4B-619C-A479-FB4B4C80B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Aktor </a:t>
            </a:r>
            <a:r>
              <a:rPr lang="en-ID" b="1" dirty="0" err="1"/>
              <a:t>Ancaman</a:t>
            </a:r>
            <a:r>
              <a:rPr lang="en-ID" b="1" dirty="0"/>
              <a:t>:</a:t>
            </a:r>
            <a:endParaRPr lang="en-ID" dirty="0"/>
          </a:p>
          <a:p>
            <a:pPr lvl="1"/>
            <a:r>
              <a:rPr lang="en-ID" b="1" dirty="0"/>
              <a:t>Cybercriminals:</a:t>
            </a:r>
            <a:r>
              <a:rPr lang="en-ID" dirty="0"/>
              <a:t> </a:t>
            </a:r>
            <a:r>
              <a:rPr lang="en-ID" dirty="0" err="1"/>
              <a:t>Motivasi</a:t>
            </a:r>
            <a:r>
              <a:rPr lang="en-ID" dirty="0"/>
              <a:t> uang (ransomware, </a:t>
            </a:r>
            <a:r>
              <a:rPr lang="en-ID" dirty="0" err="1"/>
              <a:t>pencurian</a:t>
            </a:r>
            <a:r>
              <a:rPr lang="en-ID" dirty="0"/>
              <a:t> data </a:t>
            </a:r>
            <a:r>
              <a:rPr lang="en-ID" dirty="0" err="1"/>
              <a:t>kartu</a:t>
            </a:r>
            <a:r>
              <a:rPr lang="en-ID" dirty="0"/>
              <a:t> </a:t>
            </a:r>
            <a:r>
              <a:rPr lang="en-ID" dirty="0" err="1"/>
              <a:t>kredit</a:t>
            </a:r>
            <a:r>
              <a:rPr lang="en-ID" dirty="0"/>
              <a:t>).</a:t>
            </a:r>
          </a:p>
          <a:p>
            <a:pPr lvl="1"/>
            <a:r>
              <a:rPr lang="en-ID" b="1" dirty="0"/>
              <a:t>Hacktivists:</a:t>
            </a:r>
            <a:r>
              <a:rPr lang="en-ID" dirty="0"/>
              <a:t> </a:t>
            </a:r>
            <a:r>
              <a:rPr lang="en-ID" dirty="0" err="1"/>
              <a:t>Motivasi</a:t>
            </a:r>
            <a:r>
              <a:rPr lang="en-ID" dirty="0"/>
              <a:t> </a:t>
            </a:r>
            <a:r>
              <a:rPr lang="en-ID" dirty="0" err="1"/>
              <a:t>politik</a:t>
            </a:r>
            <a:r>
              <a:rPr lang="en-ID" dirty="0"/>
              <a:t>/</a:t>
            </a:r>
            <a:r>
              <a:rPr lang="en-ID" dirty="0" err="1"/>
              <a:t>ideologi</a:t>
            </a:r>
            <a:r>
              <a:rPr lang="en-ID" dirty="0"/>
              <a:t> (deface website).</a:t>
            </a:r>
          </a:p>
          <a:p>
            <a:pPr lvl="1"/>
            <a:r>
              <a:rPr lang="en-ID" b="1" dirty="0"/>
              <a:t>State-Sponsored Actors:</a:t>
            </a:r>
            <a:r>
              <a:rPr lang="en-ID" dirty="0"/>
              <a:t> </a:t>
            </a:r>
            <a:r>
              <a:rPr lang="en-ID" dirty="0" err="1"/>
              <a:t>Motivasi</a:t>
            </a:r>
            <a:r>
              <a:rPr lang="en-ID" dirty="0"/>
              <a:t> </a:t>
            </a:r>
            <a:r>
              <a:rPr lang="en-ID" dirty="0" err="1"/>
              <a:t>spionase</a:t>
            </a:r>
            <a:r>
              <a:rPr lang="en-ID" dirty="0"/>
              <a:t>, </a:t>
            </a:r>
            <a:r>
              <a:rPr lang="en-ID" dirty="0" err="1"/>
              <a:t>sabotase</a:t>
            </a:r>
            <a:r>
              <a:rPr lang="en-ID" dirty="0"/>
              <a:t>.</a:t>
            </a:r>
          </a:p>
          <a:p>
            <a:pPr lvl="1"/>
            <a:r>
              <a:rPr lang="en-ID" b="1" dirty="0"/>
              <a:t>Script Kiddies/Insiders:</a:t>
            </a:r>
            <a:r>
              <a:rPr lang="en-ID" dirty="0"/>
              <a:t> </a:t>
            </a:r>
            <a:r>
              <a:rPr lang="en-ID" dirty="0" err="1"/>
              <a:t>Motivasi</a:t>
            </a:r>
            <a:r>
              <a:rPr lang="en-ID" dirty="0"/>
              <a:t> </a:t>
            </a:r>
            <a:r>
              <a:rPr lang="en-ID" dirty="0" err="1"/>
              <a:t>mencari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dendam</a:t>
            </a:r>
            <a:r>
              <a:rPr lang="en-ID" dirty="0"/>
              <a:t>.</a:t>
            </a:r>
          </a:p>
          <a:p>
            <a:r>
              <a:rPr lang="en-ID" b="1" dirty="0"/>
              <a:t>Vektor </a:t>
            </a:r>
            <a:r>
              <a:rPr lang="en-ID" b="1" dirty="0" err="1"/>
              <a:t>Serangan</a:t>
            </a:r>
            <a:r>
              <a:rPr lang="en-ID" b="1" dirty="0"/>
              <a:t> Umum:</a:t>
            </a:r>
            <a:r>
              <a:rPr lang="en-ID" dirty="0"/>
              <a:t> Phishing, </a:t>
            </a:r>
            <a:r>
              <a:rPr lang="en-ID" i="1" dirty="0"/>
              <a:t>Exploit Kits</a:t>
            </a:r>
            <a:r>
              <a:rPr lang="en-ID" dirty="0"/>
              <a:t>, </a:t>
            </a:r>
            <a:r>
              <a:rPr lang="en-ID" i="1" dirty="0"/>
              <a:t>Injection</a:t>
            </a:r>
            <a:r>
              <a:rPr lang="en-ID" dirty="0"/>
              <a:t>, </a:t>
            </a:r>
            <a:r>
              <a:rPr lang="en-ID" i="1" dirty="0"/>
              <a:t>Misconfiguration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5185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F26A-770C-8210-1E61-C6DD9F8BA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 OWASP? </a:t>
            </a:r>
            <a:r>
              <a:rPr lang="en-ID" dirty="0"/>
              <a:t>Teman </a:t>
            </a:r>
            <a:r>
              <a:rPr lang="en-ID" dirty="0" err="1"/>
              <a:t>Terbaik</a:t>
            </a:r>
            <a:r>
              <a:rPr lang="en-ID" dirty="0"/>
              <a:t> Para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2AAA2-4229-49FF-EE94-40F969C7D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OWASP (Open Web Application Security Project):</a:t>
            </a:r>
            <a:endParaRPr lang="en-ID" dirty="0"/>
          </a:p>
          <a:p>
            <a:pPr lvl="1"/>
            <a:r>
              <a:rPr lang="en-ID" dirty="0"/>
              <a:t>Yayasan </a:t>
            </a:r>
            <a:r>
              <a:rPr lang="en-ID" dirty="0" err="1"/>
              <a:t>nirlaba</a:t>
            </a:r>
            <a:r>
              <a:rPr lang="en-ID" dirty="0"/>
              <a:t> global.</a:t>
            </a:r>
          </a:p>
          <a:p>
            <a:pPr lvl="1"/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peningkatan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terbuka</a:t>
            </a:r>
            <a:r>
              <a:rPr lang="en-ID" dirty="0"/>
              <a:t> (</a:t>
            </a:r>
            <a:r>
              <a:rPr lang="en-ID" i="1" dirty="0"/>
              <a:t>open-source</a:t>
            </a:r>
            <a:r>
              <a:rPr lang="en-ID" dirty="0"/>
              <a:t>) dan gratis.</a:t>
            </a:r>
          </a:p>
          <a:p>
            <a:r>
              <a:rPr lang="en-ID" b="1" dirty="0" err="1"/>
              <a:t>Mengapa</a:t>
            </a:r>
            <a:r>
              <a:rPr lang="en-ID" b="1" dirty="0"/>
              <a:t> OWASP Top 10?</a:t>
            </a:r>
            <a:endParaRPr lang="en-ID" dirty="0"/>
          </a:p>
          <a:p>
            <a:pPr lvl="1"/>
            <a:r>
              <a:rPr lang="en-ID" dirty="0" err="1"/>
              <a:t>Bukanlah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formal, </a:t>
            </a:r>
            <a:r>
              <a:rPr lang="en-ID" dirty="0" err="1"/>
              <a:t>melainkan</a:t>
            </a:r>
            <a:r>
              <a:rPr lang="en-ID" dirty="0"/>
              <a:t> </a:t>
            </a:r>
            <a:r>
              <a:rPr lang="en-ID" b="1" dirty="0" err="1"/>
              <a:t>dokumen</a:t>
            </a:r>
            <a:r>
              <a:rPr lang="en-ID" b="1" dirty="0"/>
              <a:t> </a:t>
            </a:r>
            <a:r>
              <a:rPr lang="en-ID" b="1" dirty="0" err="1"/>
              <a:t>kesadaran</a:t>
            </a:r>
            <a:r>
              <a:rPr lang="en-ID" b="1" dirty="0"/>
              <a:t> (awareness document)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Mewakili</a:t>
            </a:r>
            <a:r>
              <a:rPr lang="en-ID" dirty="0"/>
              <a:t> 10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paling </a:t>
            </a:r>
            <a:r>
              <a:rPr lang="en-ID" dirty="0" err="1"/>
              <a:t>kritis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web.</a:t>
            </a:r>
          </a:p>
          <a:p>
            <a:pPr lvl="1"/>
            <a:r>
              <a:rPr lang="en-ID" dirty="0" err="1"/>
              <a:t>Diadopsi</a:t>
            </a:r>
            <a:r>
              <a:rPr lang="en-ID" dirty="0"/>
              <a:t> oleh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organisasi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acuan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Ingat</a:t>
            </a:r>
            <a:r>
              <a:rPr lang="en-ID" b="1" dirty="0"/>
              <a:t>:</a:t>
            </a:r>
            <a:r>
              <a:rPr lang="en-ID" dirty="0"/>
              <a:t> Top 10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i="1" dirty="0" err="1"/>
              <a:t>awal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i="1" dirty="0" err="1"/>
              <a:t>akhir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84111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25E7-8362-2CFB-0EB1-5533288B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Metodologi</a:t>
            </a:r>
            <a:r>
              <a:rPr lang="en-ID" b="1" dirty="0"/>
              <a:t> &amp; </a:t>
            </a:r>
            <a:r>
              <a:rPr lang="en-ID" b="1" dirty="0" err="1"/>
              <a:t>Struktur</a:t>
            </a:r>
            <a:r>
              <a:rPr lang="en-ID" b="1" dirty="0"/>
              <a:t> </a:t>
            </a:r>
            <a:r>
              <a:rPr lang="en-ID" b="1" dirty="0" err="1"/>
              <a:t>Pembahasan</a:t>
            </a:r>
            <a:br>
              <a:rPr lang="en-ID" b="1" dirty="0"/>
            </a:br>
            <a:r>
              <a:rPr lang="en-ID" dirty="0"/>
              <a:t>Cara Kita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Ancaman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2AE8C-CF58-93A8-53AB-903514923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item di OWASP Top 10,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bahas</a:t>
            </a:r>
            <a:r>
              <a:rPr lang="en-ID" dirty="0"/>
              <a:t>:</a:t>
            </a:r>
          </a:p>
          <a:p>
            <a:pPr lvl="1"/>
            <a:r>
              <a:rPr lang="en-ID" b="1" dirty="0"/>
              <a:t>Apa Itu?</a:t>
            </a:r>
            <a:r>
              <a:rPr lang="en-ID" dirty="0"/>
              <a:t> (</a:t>
            </a:r>
            <a:r>
              <a:rPr lang="en-ID" dirty="0" err="1"/>
              <a:t>Penjelasan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dan </a:t>
            </a:r>
            <a:r>
              <a:rPr lang="en-ID" dirty="0" err="1"/>
              <a:t>analogi</a:t>
            </a:r>
            <a:r>
              <a:rPr lang="en-ID" dirty="0"/>
              <a:t>)</a:t>
            </a:r>
          </a:p>
          <a:p>
            <a:pPr lvl="1"/>
            <a:r>
              <a:rPr lang="en-ID" b="1" dirty="0" err="1"/>
              <a:t>Contoh</a:t>
            </a:r>
            <a:r>
              <a:rPr lang="en-ID" b="1" dirty="0"/>
              <a:t> </a:t>
            </a:r>
            <a:r>
              <a:rPr lang="en-ID" b="1" dirty="0" err="1"/>
              <a:t>Serangan</a:t>
            </a:r>
            <a:r>
              <a:rPr lang="en-ID" dirty="0"/>
              <a:t> (</a:t>
            </a:r>
            <a:r>
              <a:rPr lang="en-ID" dirty="0" err="1"/>
              <a:t>Skenario</a:t>
            </a:r>
            <a:r>
              <a:rPr lang="en-ID" dirty="0"/>
              <a:t> dunia </a:t>
            </a:r>
            <a:r>
              <a:rPr lang="en-ID" dirty="0" err="1"/>
              <a:t>nyata</a:t>
            </a:r>
            <a:r>
              <a:rPr lang="en-ID" dirty="0"/>
              <a:t>)</a:t>
            </a:r>
          </a:p>
          <a:p>
            <a:pPr lvl="1"/>
            <a:r>
              <a:rPr lang="en-ID" b="1" dirty="0" err="1"/>
              <a:t>Dampak</a:t>
            </a:r>
            <a:r>
              <a:rPr lang="en-ID" dirty="0"/>
              <a:t> (Apa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?)</a:t>
            </a:r>
          </a:p>
          <a:p>
            <a:pPr lvl="1"/>
            <a:r>
              <a:rPr lang="en-ID" b="1" dirty="0"/>
              <a:t>Cara </a:t>
            </a:r>
            <a:r>
              <a:rPr lang="en-ID" b="1" dirty="0" err="1"/>
              <a:t>Pencegahan</a:t>
            </a:r>
            <a:r>
              <a:rPr lang="en-ID" dirty="0"/>
              <a:t> (Tips </a:t>
            </a:r>
            <a:r>
              <a:rPr lang="en-ID" dirty="0" err="1"/>
              <a:t>praktis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diterapkan</a:t>
            </a:r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4355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98641-D701-E180-3555-88D2ABE7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DEEP DIVE OWASP TOP 10 2021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6B4C-F467-6F4A-0B47-F36A95127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416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7E3E-D740-7D85-E8DF-FCB0CC48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A01:2021 - Broken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3C986-9146-89A5-F3AE-406EE55CC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?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data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yang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. </a:t>
            </a:r>
            <a:r>
              <a:rPr lang="en-ID" b="1" dirty="0" err="1"/>
              <a:t>Analogi</a:t>
            </a:r>
            <a:r>
              <a:rPr lang="en-ID" b="1" dirty="0"/>
              <a:t>:</a:t>
            </a:r>
            <a:r>
              <a:rPr lang="en-ID" dirty="0"/>
              <a:t> Anda punya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kamar</a:t>
            </a:r>
            <a:r>
              <a:rPr lang="en-ID" dirty="0"/>
              <a:t> hotel,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ternyata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kamar</a:t>
            </a:r>
            <a:r>
              <a:rPr lang="en-ID" dirty="0"/>
              <a:t>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URL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b="1" dirty="0"/>
              <a:t>/user/</a:t>
            </a:r>
            <a:r>
              <a:rPr lang="en-ID" b="1" dirty="0" err="1"/>
              <a:t>profile?id</a:t>
            </a:r>
            <a:r>
              <a:rPr lang="en-ID" b="1" dirty="0"/>
              <a:t>=123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b="1" dirty="0"/>
              <a:t>/admin/</a:t>
            </a:r>
            <a:r>
              <a:rPr lang="en-ID" b="1" dirty="0" err="1"/>
              <a:t>users?id</a:t>
            </a:r>
            <a:r>
              <a:rPr lang="en-ID" b="1" dirty="0"/>
              <a:t>=123</a:t>
            </a:r>
            <a:r>
              <a:rPr lang="en-ID" dirty="0"/>
              <a:t> dan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data </a:t>
            </a:r>
            <a:r>
              <a:rPr lang="en-ID" dirty="0" err="1"/>
              <a:t>semua</a:t>
            </a:r>
            <a:r>
              <a:rPr lang="en-ID" dirty="0"/>
              <a:t> user.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Bocornya</a:t>
            </a:r>
            <a:r>
              <a:rPr lang="en-ID" dirty="0"/>
              <a:t> data </a:t>
            </a:r>
            <a:r>
              <a:rPr lang="en-ID" dirty="0" err="1"/>
              <a:t>sensitif</a:t>
            </a:r>
            <a:r>
              <a:rPr lang="en-ID" dirty="0"/>
              <a:t>, </a:t>
            </a:r>
            <a:r>
              <a:rPr lang="en-ID" dirty="0" err="1"/>
              <a:t>perubahan</a:t>
            </a:r>
            <a:r>
              <a:rPr lang="en-ID" dirty="0"/>
              <a:t> data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sah</a:t>
            </a:r>
            <a:r>
              <a:rPr lang="en-ID" dirty="0"/>
              <a:t>, </a:t>
            </a:r>
            <a:r>
              <a:rPr lang="en-ID" dirty="0" err="1"/>
              <a:t>bahkan</a:t>
            </a:r>
            <a:r>
              <a:rPr lang="en-ID" dirty="0"/>
              <a:t> </a:t>
            </a:r>
            <a:r>
              <a:rPr lang="en-ID" dirty="0" err="1"/>
              <a:t>pengambilalihan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b="1" dirty="0"/>
              <a:t>Principle of Least Privilege</a:t>
            </a:r>
            <a:r>
              <a:rPr lang="en-ID" dirty="0"/>
              <a:t>, </a:t>
            </a:r>
            <a:r>
              <a:rPr lang="en-ID" dirty="0" err="1"/>
              <a:t>validasi</a:t>
            </a:r>
            <a:r>
              <a:rPr lang="en-ID" dirty="0"/>
              <a:t> </a:t>
            </a:r>
            <a:r>
              <a:rPr lang="en-ID" dirty="0" err="1"/>
              <a:t>otorisasi</a:t>
            </a:r>
            <a:r>
              <a:rPr lang="en-ID" dirty="0"/>
              <a:t> di </a:t>
            </a:r>
            <a:r>
              <a:rPr lang="en-ID" i="1" dirty="0"/>
              <a:t>server-side</a:t>
            </a:r>
            <a:r>
              <a:rPr lang="en-ID" dirty="0"/>
              <a:t> (</a:t>
            </a:r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di frontend),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i="1" dirty="0"/>
              <a:t>access control lists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07660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BCE1-1CB1-F424-BDF2-0EDB31B7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A01: Broken </a:t>
            </a:r>
            <a:r>
              <a:rPr lang="en-US" dirty="0" err="1"/>
              <a:t>Acess</a:t>
            </a:r>
            <a:r>
              <a:rPr lang="en-US" dirty="0"/>
              <a:t> Control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8501F-9104-0501-DCAC-91B2AACF9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Login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b="1" dirty="0"/>
              <a:t>user1</a:t>
            </a:r>
            <a:r>
              <a:rPr lang="en-US" dirty="0"/>
              <a:t> (password: </a:t>
            </a:r>
            <a:r>
              <a:rPr lang="en-US" b="1" dirty="0"/>
              <a:t>password</a:t>
            </a:r>
            <a:r>
              <a:rPr lang="en-US" dirty="0"/>
              <a:t>).</a:t>
            </a:r>
          </a:p>
          <a:p>
            <a:r>
              <a:rPr lang="en-US" dirty="0" err="1"/>
              <a:t>Klik</a:t>
            </a:r>
            <a:r>
              <a:rPr lang="en-US" dirty="0"/>
              <a:t> menu </a:t>
            </a:r>
            <a:r>
              <a:rPr lang="en-US" b="1" dirty="0"/>
              <a:t>A01: Access Control</a:t>
            </a:r>
            <a:r>
              <a:rPr lang="en-US" dirty="0"/>
              <a:t>. Anda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b="1" dirty="0"/>
              <a:t>user1</a:t>
            </a:r>
            <a:r>
              <a:rPr lang="en-US" dirty="0"/>
              <a:t>.</a:t>
            </a:r>
          </a:p>
          <a:p>
            <a:r>
              <a:rPr lang="en-US" dirty="0"/>
              <a:t>Di URL, </a:t>
            </a:r>
            <a:r>
              <a:rPr lang="en-US" dirty="0" err="1"/>
              <a:t>ubah</a:t>
            </a:r>
            <a:r>
              <a:rPr lang="en-US" dirty="0"/>
              <a:t> </a:t>
            </a:r>
            <a:r>
              <a:rPr lang="en-US" b="1" dirty="0"/>
              <a:t>?action=</a:t>
            </a:r>
            <a:r>
              <a:rPr lang="en-US" b="1" dirty="0" err="1"/>
              <a:t>profile&amp;id</a:t>
            </a:r>
            <a:r>
              <a:rPr lang="en-US" b="1" dirty="0"/>
              <a:t>=2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b="1" dirty="0"/>
              <a:t>?action=</a:t>
            </a:r>
            <a:r>
              <a:rPr lang="en-US" b="1" dirty="0" err="1"/>
              <a:t>profile&amp;id</a:t>
            </a:r>
            <a:r>
              <a:rPr lang="en-US" b="1" dirty="0"/>
              <a:t>=1</a:t>
            </a:r>
            <a:r>
              <a:rPr lang="en-US" dirty="0"/>
              <a:t>.</a:t>
            </a:r>
          </a:p>
          <a:p>
            <a:r>
              <a:rPr lang="en-US" dirty="0"/>
              <a:t>Anda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b="1" dirty="0"/>
              <a:t>admin</a:t>
            </a:r>
            <a:r>
              <a:rPr lang="en-US" dirty="0"/>
              <a:t>, </a:t>
            </a:r>
            <a:r>
              <a:rPr lang="en-US" dirty="0" err="1"/>
              <a:t>padahal</a:t>
            </a:r>
            <a:r>
              <a:rPr lang="en-US" dirty="0"/>
              <a:t> Anda login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b="1" dirty="0"/>
              <a:t>user1</a:t>
            </a:r>
            <a:r>
              <a:rPr lang="en-US" dirty="0"/>
              <a:t>. Ini </a:t>
            </a:r>
            <a:r>
              <a:rPr lang="en-US" dirty="0" err="1"/>
              <a:t>adalah</a:t>
            </a:r>
            <a:r>
              <a:rPr lang="en-US" dirty="0"/>
              <a:t> Broken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2956009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0EA4-71BE-2537-59F5-EFDF8A87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A02:2021 - Cryptographic Failures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B420-9651-C145-6100-137D8B79B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?</a:t>
            </a:r>
            <a:r>
              <a:rPr lang="en-ID" dirty="0"/>
              <a:t> </a:t>
            </a: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melindungi</a:t>
            </a:r>
            <a:r>
              <a:rPr lang="en-ID" dirty="0"/>
              <a:t> data </a:t>
            </a:r>
            <a:r>
              <a:rPr lang="en-ID" dirty="0" err="1"/>
              <a:t>sensitif</a:t>
            </a:r>
            <a:r>
              <a:rPr lang="en-ID" dirty="0"/>
              <a:t> (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). </a:t>
            </a:r>
            <a:r>
              <a:rPr lang="en-ID" b="1" dirty="0" err="1"/>
              <a:t>Analogi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Mengirim</a:t>
            </a:r>
            <a:r>
              <a:rPr lang="en-ID" dirty="0"/>
              <a:t> </a:t>
            </a:r>
            <a:r>
              <a:rPr lang="en-ID" dirty="0" err="1"/>
              <a:t>surat</a:t>
            </a:r>
            <a:r>
              <a:rPr lang="en-ID" dirty="0"/>
              <a:t> </a:t>
            </a:r>
            <a:r>
              <a:rPr lang="en-ID" dirty="0" err="1"/>
              <a:t>rahasia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amplop</a:t>
            </a:r>
            <a:r>
              <a:rPr lang="en-ID" dirty="0"/>
              <a:t> yang </a:t>
            </a:r>
            <a:r>
              <a:rPr lang="en-ID" dirty="0" err="1"/>
              <a:t>terbuka</a:t>
            </a:r>
            <a:r>
              <a:rPr lang="en-ID" dirty="0"/>
              <a:t>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password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i="1" dirty="0"/>
              <a:t>plaintext</a:t>
            </a:r>
            <a:r>
              <a:rPr lang="en-ID" dirty="0"/>
              <a:t> di database.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Pencurian</a:t>
            </a:r>
            <a:r>
              <a:rPr lang="en-ID" dirty="0"/>
              <a:t> data </a:t>
            </a:r>
            <a:r>
              <a:rPr lang="en-ID" dirty="0" err="1"/>
              <a:t>pribadi</a:t>
            </a:r>
            <a:r>
              <a:rPr lang="en-ID" dirty="0"/>
              <a:t>, </a:t>
            </a:r>
            <a:r>
              <a:rPr lang="en-ID" dirty="0" err="1"/>
              <a:t>kartu</a:t>
            </a:r>
            <a:r>
              <a:rPr lang="en-ID" dirty="0"/>
              <a:t> </a:t>
            </a:r>
            <a:r>
              <a:rPr lang="en-ID" dirty="0" err="1"/>
              <a:t>kredit</a:t>
            </a:r>
            <a:r>
              <a:rPr lang="en-ID" dirty="0"/>
              <a:t>, password, </a:t>
            </a:r>
            <a:r>
              <a:rPr lang="en-ID" dirty="0" err="1"/>
              <a:t>dll</a:t>
            </a:r>
            <a:r>
              <a:rPr lang="en-ID" dirty="0"/>
              <a:t>.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Enkripsi</a:t>
            </a:r>
            <a:r>
              <a:rPr lang="en-ID" dirty="0"/>
              <a:t> data </a:t>
            </a:r>
            <a:r>
              <a:rPr lang="en-ID" dirty="0" err="1"/>
              <a:t>saat</a:t>
            </a:r>
            <a:r>
              <a:rPr lang="en-ID" dirty="0"/>
              <a:t> transit (HTTPS/TLS) dan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diistirahatkan</a:t>
            </a:r>
            <a:r>
              <a:rPr lang="en-ID" dirty="0"/>
              <a:t> (</a:t>
            </a:r>
            <a:r>
              <a:rPr lang="en-ID" dirty="0" err="1"/>
              <a:t>enkripsi</a:t>
            </a:r>
            <a:r>
              <a:rPr lang="en-ID" dirty="0"/>
              <a:t> DB).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i="1" dirty="0"/>
              <a:t>hashing</a:t>
            </a:r>
            <a:r>
              <a:rPr lang="en-ID" dirty="0"/>
              <a:t> yang </a:t>
            </a:r>
            <a:r>
              <a:rPr lang="en-ID" dirty="0" err="1"/>
              <a:t>kuat</a:t>
            </a:r>
            <a:r>
              <a:rPr lang="en-ID" dirty="0"/>
              <a:t> (</a:t>
            </a:r>
            <a:r>
              <a:rPr lang="en-ID" dirty="0" err="1"/>
              <a:t>bcrypt</a:t>
            </a:r>
            <a:r>
              <a:rPr lang="en-ID" dirty="0"/>
              <a:t>, </a:t>
            </a:r>
            <a:r>
              <a:rPr lang="en-ID" dirty="0" err="1"/>
              <a:t>scrypt</a:t>
            </a:r>
            <a:r>
              <a:rPr lang="en-ID" dirty="0"/>
              <a:t>, Argon2) </a:t>
            </a:r>
            <a:r>
              <a:rPr lang="en-ID" dirty="0" err="1"/>
              <a:t>untuk</a:t>
            </a:r>
            <a:r>
              <a:rPr lang="en-ID" dirty="0"/>
              <a:t> password. </a:t>
            </a:r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pernah</a:t>
            </a:r>
            <a:r>
              <a:rPr lang="en-ID" dirty="0"/>
              <a:t> buat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kriptografi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3554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40FDA-52B0-C545-C555-19E61BF6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A02: Cryptographic Failures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45DBF-5FBB-C280-5FEA-4FD72100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Lihat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dirty="0" err="1"/>
              <a:t>profil</a:t>
            </a:r>
            <a:r>
              <a:rPr lang="en-ID" dirty="0"/>
              <a:t> (</a:t>
            </a:r>
            <a:r>
              <a:rPr lang="en-ID" dirty="0" err="1"/>
              <a:t>misal</a:t>
            </a:r>
            <a:r>
              <a:rPr lang="en-ID" dirty="0"/>
              <a:t> </a:t>
            </a:r>
            <a:r>
              <a:rPr lang="en-ID" b="1" dirty="0"/>
              <a:t>?action=</a:t>
            </a:r>
            <a:r>
              <a:rPr lang="en-ID" b="1" dirty="0" err="1"/>
              <a:t>profile&amp;id</a:t>
            </a:r>
            <a:r>
              <a:rPr lang="en-ID" b="1" dirty="0"/>
              <a:t>=1</a:t>
            </a:r>
            <a:r>
              <a:rPr lang="en-ID" dirty="0"/>
              <a:t>).</a:t>
            </a:r>
          </a:p>
          <a:p>
            <a:r>
              <a:rPr lang="en-ID" dirty="0" err="1"/>
              <a:t>Perhatikan</a:t>
            </a:r>
            <a:r>
              <a:rPr lang="en-ID" dirty="0"/>
              <a:t> </a:t>
            </a:r>
            <a:r>
              <a:rPr lang="en-ID" b="1" dirty="0"/>
              <a:t>Password Hash</a:t>
            </a:r>
            <a:r>
              <a:rPr lang="en-ID" dirty="0"/>
              <a:t> yang </a:t>
            </a:r>
            <a:r>
              <a:rPr lang="en-ID" dirty="0" err="1"/>
              <a:t>ditampilkan</a:t>
            </a:r>
            <a:r>
              <a:rPr lang="en-ID" dirty="0"/>
              <a:t>. Salin hash </a:t>
            </a:r>
            <a:r>
              <a:rPr lang="en-ID" b="1" dirty="0"/>
              <a:t>admin</a:t>
            </a:r>
            <a:r>
              <a:rPr lang="en-ID" dirty="0"/>
              <a:t> (</a:t>
            </a:r>
            <a:r>
              <a:rPr lang="en-ID" b="1" dirty="0"/>
              <a:t>21232f297a57a5a743894a0e4a801fc3</a:t>
            </a:r>
            <a:r>
              <a:rPr lang="en-ID" dirty="0"/>
              <a:t>).</a:t>
            </a:r>
          </a:p>
          <a:p>
            <a:r>
              <a:rPr lang="en-ID" dirty="0"/>
              <a:t>Buka Google dan </a:t>
            </a:r>
            <a:r>
              <a:rPr lang="en-ID" dirty="0" err="1"/>
              <a:t>tempelkan</a:t>
            </a:r>
            <a:r>
              <a:rPr lang="en-ID" dirty="0"/>
              <a:t> hash </a:t>
            </a:r>
            <a:r>
              <a:rPr lang="en-ID" dirty="0" err="1"/>
              <a:t>tersebut</a:t>
            </a:r>
            <a:r>
              <a:rPr lang="en-ID" dirty="0"/>
              <a:t>. Anda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passwordnya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"admin". Ini </a:t>
            </a:r>
            <a:r>
              <a:rPr lang="en-ID" dirty="0" err="1"/>
              <a:t>membuktikan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MD5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aman</a:t>
            </a:r>
            <a:r>
              <a:rPr lang="en-ID" dirty="0"/>
              <a:t>.</a:t>
            </a:r>
          </a:p>
          <a:p>
            <a:r>
              <a:rPr lang="en-ID" dirty="0"/>
              <a:t>https://md5calc.com/hash/md5/admin</a:t>
            </a:r>
          </a:p>
        </p:txBody>
      </p:sp>
    </p:spTree>
    <p:extLst>
      <p:ext uri="{BB962C8B-B14F-4D97-AF65-F5344CB8AC3E}">
        <p14:creationId xmlns:p14="http://schemas.microsoft.com/office/powerpoint/2010/main" val="1797367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B3983-DC78-9D82-19CD-FF4C0DDC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A03:2021 - Injection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AAF06-DD55-D3D5-4D97-B07779494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?</a:t>
            </a:r>
            <a:r>
              <a:rPr lang="en-ID" dirty="0"/>
              <a:t> </a:t>
            </a:r>
            <a:r>
              <a:rPr lang="en-ID" dirty="0" err="1"/>
              <a:t>Penyerang</a:t>
            </a:r>
            <a:r>
              <a:rPr lang="en-ID" dirty="0"/>
              <a:t> </a:t>
            </a:r>
            <a:r>
              <a:rPr lang="en-ID" dirty="0" err="1"/>
              <a:t>mengirimkan</a:t>
            </a:r>
            <a:r>
              <a:rPr lang="en-ID" dirty="0"/>
              <a:t> data </a:t>
            </a:r>
            <a:r>
              <a:rPr lang="en-ID" dirty="0" err="1"/>
              <a:t>berbahaya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dieksekusi</a:t>
            </a:r>
            <a:r>
              <a:rPr lang="en-ID" dirty="0"/>
              <a:t> oleh </a:t>
            </a:r>
            <a:r>
              <a:rPr lang="en-ID" dirty="0" err="1"/>
              <a:t>aplikasi</a:t>
            </a:r>
            <a:r>
              <a:rPr lang="en-ID" dirty="0"/>
              <a:t>. </a:t>
            </a:r>
            <a:r>
              <a:rPr lang="en-ID" b="1" dirty="0" err="1"/>
              <a:t>Analogi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Menyisipkan</a:t>
            </a:r>
            <a:r>
              <a:rPr lang="en-ID" dirty="0"/>
              <a:t> </a:t>
            </a:r>
            <a:r>
              <a:rPr lang="en-ID" dirty="0" err="1"/>
              <a:t>perintah</a:t>
            </a:r>
            <a:r>
              <a:rPr lang="en-ID" dirty="0"/>
              <a:t> </a:t>
            </a:r>
            <a:r>
              <a:rPr lang="en-ID" dirty="0" err="1"/>
              <a:t>jahat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kotak</a:t>
            </a:r>
            <a:r>
              <a:rPr lang="en-ID" dirty="0"/>
              <a:t> saran.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b="1" dirty="0"/>
              <a:t>SQL Injection</a:t>
            </a:r>
            <a:r>
              <a:rPr lang="en-ID" dirty="0"/>
              <a:t> pada form login: </a:t>
            </a:r>
            <a:r>
              <a:rPr lang="en-ID" dirty="0" err="1"/>
              <a:t>memasukkan</a:t>
            </a:r>
            <a:r>
              <a:rPr lang="en-ID" dirty="0"/>
              <a:t> </a:t>
            </a:r>
            <a:r>
              <a:rPr lang="en-ID" b="1" dirty="0"/>
              <a:t>' OR '1'='1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membypass</a:t>
            </a:r>
            <a:r>
              <a:rPr lang="en-ID" dirty="0"/>
              <a:t> </a:t>
            </a:r>
            <a:r>
              <a:rPr lang="en-ID" dirty="0" err="1"/>
              <a:t>autentikasi</a:t>
            </a:r>
            <a:r>
              <a:rPr lang="en-ID" dirty="0"/>
              <a:t>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Pengambilalihan </a:t>
            </a:r>
            <a:r>
              <a:rPr lang="en-ID" dirty="0" err="1"/>
              <a:t>penuh</a:t>
            </a:r>
            <a:r>
              <a:rPr lang="en-ID" dirty="0"/>
              <a:t> database, </a:t>
            </a:r>
            <a:r>
              <a:rPr lang="en-ID" dirty="0" err="1"/>
              <a:t>pencurian</a:t>
            </a:r>
            <a:r>
              <a:rPr lang="en-ID" dirty="0"/>
              <a:t> data, </a:t>
            </a:r>
            <a:r>
              <a:rPr lang="en-ID" dirty="0" err="1"/>
              <a:t>modifikasi</a:t>
            </a:r>
            <a:r>
              <a:rPr lang="en-ID" dirty="0"/>
              <a:t>/hapus data.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b="1" dirty="0"/>
              <a:t>Parameterized Queries</a:t>
            </a:r>
            <a:r>
              <a:rPr lang="en-ID" dirty="0"/>
              <a:t> (Prepared Statements), </a:t>
            </a:r>
            <a:r>
              <a:rPr lang="en-ID" dirty="0" err="1"/>
              <a:t>gunakan</a:t>
            </a:r>
            <a:r>
              <a:rPr lang="en-ID" dirty="0"/>
              <a:t> ORM (Object-Relational Mapping), </a:t>
            </a:r>
            <a:r>
              <a:rPr lang="en-ID" dirty="0" err="1"/>
              <a:t>lakukan</a:t>
            </a:r>
            <a:r>
              <a:rPr lang="en-ID" dirty="0"/>
              <a:t> </a:t>
            </a:r>
            <a:r>
              <a:rPr lang="en-ID" dirty="0" err="1"/>
              <a:t>validasi</a:t>
            </a:r>
            <a:r>
              <a:rPr lang="en-ID" dirty="0"/>
              <a:t> input yang </a:t>
            </a:r>
            <a:r>
              <a:rPr lang="en-ID" dirty="0" err="1"/>
              <a:t>ketat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68692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70C3-D89D-0652-96C2-243F3FBB4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A03: Injection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B2E3-4544-3E57-75A3-020BAC4C0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Buka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b="1" dirty="0"/>
              <a:t>Login</a:t>
            </a:r>
            <a:r>
              <a:rPr lang="en-ID" dirty="0"/>
              <a:t>.</a:t>
            </a:r>
          </a:p>
          <a:p>
            <a:r>
              <a:rPr lang="en-ID" dirty="0"/>
              <a:t>Di </a:t>
            </a:r>
            <a:r>
              <a:rPr lang="en-ID" dirty="0" err="1"/>
              <a:t>kolom</a:t>
            </a:r>
            <a:r>
              <a:rPr lang="en-ID" dirty="0"/>
              <a:t> username, </a:t>
            </a:r>
            <a:r>
              <a:rPr lang="en-ID" dirty="0" err="1"/>
              <a:t>masukkan</a:t>
            </a:r>
            <a:r>
              <a:rPr lang="en-ID" dirty="0"/>
              <a:t>: </a:t>
            </a:r>
            <a:r>
              <a:rPr lang="en-ID" b="1" dirty="0"/>
              <a:t>' OR '1'='1' --  </a:t>
            </a:r>
            <a:endParaRPr lang="en-ID" dirty="0"/>
          </a:p>
          <a:p>
            <a:r>
              <a:rPr lang="en-ID" dirty="0"/>
              <a:t>Di </a:t>
            </a:r>
            <a:r>
              <a:rPr lang="en-ID" dirty="0" err="1"/>
              <a:t>kolom</a:t>
            </a:r>
            <a:r>
              <a:rPr lang="en-ID" dirty="0"/>
              <a:t> password, </a:t>
            </a:r>
            <a:r>
              <a:rPr lang="en-ID" dirty="0" err="1"/>
              <a:t>isi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(</a:t>
            </a:r>
            <a:r>
              <a:rPr lang="en-ID" dirty="0" err="1"/>
              <a:t>misal</a:t>
            </a:r>
            <a:r>
              <a:rPr lang="en-ID" dirty="0"/>
              <a:t>: </a:t>
            </a:r>
            <a:r>
              <a:rPr lang="en-ID" b="1" dirty="0" err="1"/>
              <a:t>abc</a:t>
            </a:r>
            <a:r>
              <a:rPr lang="en-ID" dirty="0"/>
              <a:t>).</a:t>
            </a:r>
          </a:p>
          <a:p>
            <a:r>
              <a:rPr lang="en-ID" dirty="0" err="1"/>
              <a:t>Klik</a:t>
            </a:r>
            <a:r>
              <a:rPr lang="en-ID" dirty="0"/>
              <a:t> Login. Anda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login </a:t>
            </a:r>
            <a:r>
              <a:rPr lang="en-ID" dirty="0" err="1"/>
              <a:t>sebagai</a:t>
            </a:r>
            <a:r>
              <a:rPr lang="en-ID" dirty="0"/>
              <a:t> user </a:t>
            </a:r>
            <a:r>
              <a:rPr lang="en-ID" dirty="0" err="1"/>
              <a:t>pertama</a:t>
            </a:r>
            <a:r>
              <a:rPr lang="en-ID" dirty="0"/>
              <a:t> di database (</a:t>
            </a:r>
            <a:r>
              <a:rPr lang="en-ID" b="1" dirty="0"/>
              <a:t>admin</a:t>
            </a:r>
            <a:r>
              <a:rPr lang="en-ID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72213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40C0-BC22-17B4-17C6-6AD7C75B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A04:2021 - Insecure Design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8AA09-7F50-5F91-7639-60BC857A4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?</a:t>
            </a:r>
            <a:r>
              <a:rPr lang="en-ID" dirty="0"/>
              <a:t> </a:t>
            </a:r>
            <a:r>
              <a:rPr lang="en-ID" dirty="0" err="1"/>
              <a:t>Kekurangan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yang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sejak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dan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. </a:t>
            </a:r>
            <a:r>
              <a:rPr lang="en-ID" b="1" dirty="0" err="1"/>
              <a:t>Analogi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dirty="0" err="1"/>
              <a:t>rumah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merencanakan</a:t>
            </a:r>
            <a:r>
              <a:rPr lang="en-ID" dirty="0"/>
              <a:t> </a:t>
            </a:r>
            <a:r>
              <a:rPr lang="en-ID" dirty="0" err="1"/>
              <a:t>pagar</a:t>
            </a:r>
            <a:r>
              <a:rPr lang="en-ID" dirty="0"/>
              <a:t>, </a:t>
            </a:r>
            <a:r>
              <a:rPr lang="en-ID" dirty="0" err="1"/>
              <a:t>gembok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alarm.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Mendesain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i="1" dirty="0"/>
              <a:t>reset password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batas </a:t>
            </a:r>
            <a:r>
              <a:rPr lang="en-ID" dirty="0" err="1"/>
              <a:t>percobaan</a:t>
            </a:r>
            <a:r>
              <a:rPr lang="en-ID" dirty="0"/>
              <a:t>,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i="1" dirty="0"/>
              <a:t>brute-force</a:t>
            </a:r>
            <a:r>
              <a:rPr lang="en-ID" dirty="0"/>
              <a:t>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celah</a:t>
            </a:r>
            <a:r>
              <a:rPr lang="en-ID" dirty="0"/>
              <a:t> yang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diperbaiki</a:t>
            </a:r>
            <a:r>
              <a:rPr lang="en-ID" dirty="0"/>
              <a:t> di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.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Lakukan</a:t>
            </a:r>
            <a:r>
              <a:rPr lang="en-ID" dirty="0"/>
              <a:t> </a:t>
            </a:r>
            <a:r>
              <a:rPr lang="en-ID" b="1" dirty="0"/>
              <a:t>Threat </a:t>
            </a:r>
            <a:r>
              <a:rPr lang="en-ID" b="1" dirty="0" err="1"/>
              <a:t>Modeling</a:t>
            </a:r>
            <a:r>
              <a:rPr lang="en-ID" dirty="0"/>
              <a:t> </a:t>
            </a:r>
            <a:r>
              <a:rPr lang="en-ID" dirty="0" err="1"/>
              <a:t>sejak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, </a:t>
            </a:r>
            <a:r>
              <a:rPr lang="en-ID" dirty="0" err="1"/>
              <a:t>integrasikan</a:t>
            </a:r>
            <a:r>
              <a:rPr lang="en-ID" dirty="0"/>
              <a:t> </a:t>
            </a:r>
            <a:r>
              <a:rPr lang="en-ID" i="1" dirty="0"/>
              <a:t>secure design patterns</a:t>
            </a:r>
            <a:r>
              <a:rPr lang="en-ID" dirty="0"/>
              <a:t>, </a:t>
            </a:r>
            <a:r>
              <a:rPr lang="en-ID" dirty="0" err="1"/>
              <a:t>terapkan</a:t>
            </a:r>
            <a:r>
              <a:rPr lang="en-ID" dirty="0"/>
              <a:t> </a:t>
            </a:r>
            <a:r>
              <a:rPr lang="en-ID" i="1" dirty="0" err="1"/>
              <a:t>defense</a:t>
            </a:r>
            <a:r>
              <a:rPr lang="en-ID" i="1" dirty="0"/>
              <a:t> in depth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4822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033B-7CFB-8101-1896-339E3A8E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A04: Insecure Design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173ED-B15C-D314-CC06-59CAAE56B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Buka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b="1" dirty="0"/>
              <a:t>A04: Insecure Design</a:t>
            </a:r>
            <a:r>
              <a:rPr lang="en-ID" dirty="0"/>
              <a:t>.</a:t>
            </a:r>
          </a:p>
          <a:p>
            <a:r>
              <a:rPr lang="en-ID" dirty="0"/>
              <a:t>Coba reset password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b="1" dirty="0"/>
              <a:t>admin</a:t>
            </a:r>
            <a:r>
              <a:rPr lang="en-ID" dirty="0"/>
              <a:t>. </a:t>
            </a:r>
            <a:r>
              <a:rPr lang="en-ID" dirty="0" err="1"/>
              <a:t>Pesan</a:t>
            </a:r>
            <a:r>
              <a:rPr lang="en-ID" dirty="0"/>
              <a:t> </a:t>
            </a:r>
            <a:r>
              <a:rPr lang="en-ID" dirty="0" err="1"/>
              <a:t>sukses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.</a:t>
            </a:r>
          </a:p>
          <a:p>
            <a:r>
              <a:rPr lang="en-ID" dirty="0"/>
              <a:t>Coba reset password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b="1" dirty="0" err="1"/>
              <a:t>asdfghjkl</a:t>
            </a:r>
            <a:r>
              <a:rPr lang="en-ID" dirty="0"/>
              <a:t>. </a:t>
            </a:r>
            <a:r>
              <a:rPr lang="en-ID" dirty="0" err="1"/>
              <a:t>Pesan</a:t>
            </a:r>
            <a:r>
              <a:rPr lang="en-ID" dirty="0"/>
              <a:t> "Username not found"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.</a:t>
            </a:r>
          </a:p>
          <a:p>
            <a:r>
              <a:rPr lang="en-ID" dirty="0" err="1"/>
              <a:t>Penyerang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menebak</a:t>
            </a:r>
            <a:r>
              <a:rPr lang="en-ID" dirty="0"/>
              <a:t> username mana yang valid di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65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3277-C004-0B3F-FE82-5575A266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A05:2021 - Security Misconfiguration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1BDF1-3551-1ECE-9536-C512E025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?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konfigurasi</a:t>
            </a:r>
            <a:r>
              <a:rPr lang="en-ID" dirty="0"/>
              <a:t> pada server, framework,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yang </a:t>
            </a:r>
            <a:r>
              <a:rPr lang="en-ID" dirty="0" err="1"/>
              <a:t>membuatnya</a:t>
            </a:r>
            <a:r>
              <a:rPr lang="en-ID" dirty="0"/>
              <a:t> </a:t>
            </a:r>
            <a:r>
              <a:rPr lang="en-ID" dirty="0" err="1"/>
              <a:t>rentan</a:t>
            </a:r>
            <a:r>
              <a:rPr lang="en-ID" dirty="0"/>
              <a:t>. </a:t>
            </a:r>
            <a:r>
              <a:rPr lang="en-ID" b="1" dirty="0" err="1"/>
              <a:t>Analogi</a:t>
            </a:r>
            <a:r>
              <a:rPr lang="en-ID" b="1" dirty="0"/>
              <a:t>:</a:t>
            </a:r>
            <a:r>
              <a:rPr lang="en-ID" dirty="0"/>
              <a:t> Lupa </a:t>
            </a:r>
            <a:r>
              <a:rPr lang="en-ID" dirty="0" err="1"/>
              <a:t>mengunci</a:t>
            </a:r>
            <a:r>
              <a:rPr lang="en-ID" dirty="0"/>
              <a:t> </a:t>
            </a:r>
            <a:r>
              <a:rPr lang="en-ID" dirty="0" err="1"/>
              <a:t>pintu</a:t>
            </a:r>
            <a:r>
              <a:rPr lang="en-ID" dirty="0"/>
              <a:t> </a:t>
            </a:r>
            <a:r>
              <a:rPr lang="en-ID" dirty="0" err="1"/>
              <a:t>rumah</a:t>
            </a:r>
            <a:r>
              <a:rPr lang="en-ID" dirty="0"/>
              <a:t> dan </a:t>
            </a:r>
            <a:r>
              <a:rPr lang="en-ID" dirty="0" err="1"/>
              <a:t>mematikan</a:t>
            </a:r>
            <a:r>
              <a:rPr lang="en-ID" dirty="0"/>
              <a:t> alarm.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password default </a:t>
            </a:r>
            <a:r>
              <a:rPr lang="en-ID" dirty="0" err="1"/>
              <a:t>untuk</a:t>
            </a:r>
            <a:r>
              <a:rPr lang="en-ID" dirty="0"/>
              <a:t> admin panel, </a:t>
            </a:r>
            <a:r>
              <a:rPr lang="en-ID" dirty="0" err="1"/>
              <a:t>mengaktifkan</a:t>
            </a:r>
            <a:r>
              <a:rPr lang="en-ID" dirty="0"/>
              <a:t> </a:t>
            </a:r>
            <a:r>
              <a:rPr lang="en-ID" i="1" dirty="0"/>
              <a:t>directory listing</a:t>
            </a:r>
            <a:r>
              <a:rPr lang="en-ID" dirty="0"/>
              <a:t>,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i="1" dirty="0"/>
              <a:t>error message</a:t>
            </a:r>
            <a:r>
              <a:rPr lang="en-ID" dirty="0"/>
              <a:t> yang detail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publik</a:t>
            </a:r>
            <a:r>
              <a:rPr lang="en-ID" dirty="0"/>
              <a:t>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penyerang</a:t>
            </a:r>
            <a:r>
              <a:rPr lang="en-ID" dirty="0"/>
              <a:t> </a:t>
            </a:r>
            <a:r>
              <a:rPr lang="en-ID" dirty="0" err="1"/>
              <a:t>mendapatkan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dan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i="1" dirty="0"/>
              <a:t>Hardening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, </a:t>
            </a:r>
            <a:r>
              <a:rPr lang="en-ID" dirty="0" err="1"/>
              <a:t>matikan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, hapus </a:t>
            </a:r>
            <a:r>
              <a:rPr lang="en-ID" dirty="0" err="1"/>
              <a:t>akun</a:t>
            </a:r>
            <a:r>
              <a:rPr lang="en-ID" dirty="0"/>
              <a:t> default, </a:t>
            </a:r>
            <a:r>
              <a:rPr lang="en-ID" dirty="0" err="1"/>
              <a:t>lakukan</a:t>
            </a:r>
            <a:r>
              <a:rPr lang="en-ID" dirty="0"/>
              <a:t> </a:t>
            </a:r>
            <a:r>
              <a:rPr lang="en-ID" i="1" dirty="0"/>
              <a:t>audit</a:t>
            </a:r>
            <a:r>
              <a:rPr lang="en-ID" dirty="0"/>
              <a:t> </a:t>
            </a:r>
            <a:r>
              <a:rPr lang="en-ID" dirty="0" err="1"/>
              <a:t>konfigurasi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berkala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69528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870C-7503-049C-A51A-4BD7F2DA4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A05: Security Misconfiguration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6B3B-2BE6-D062-2465-2BB62B545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Klik</a:t>
            </a:r>
            <a:r>
              <a:rPr lang="en-ID" dirty="0"/>
              <a:t> menu </a:t>
            </a:r>
            <a:r>
              <a:rPr lang="en-ID" b="1" dirty="0"/>
              <a:t>A05: Misconfiguration</a:t>
            </a:r>
            <a:r>
              <a:rPr lang="en-ID" dirty="0"/>
              <a:t>.</a:t>
            </a:r>
          </a:p>
          <a:p>
            <a:r>
              <a:rPr lang="en-ID" dirty="0" err="1"/>
              <a:t>Klik</a:t>
            </a:r>
            <a:r>
              <a:rPr lang="en-ID" dirty="0"/>
              <a:t> link yang </a:t>
            </a:r>
            <a:r>
              <a:rPr lang="en-ID" dirty="0" err="1"/>
              <a:t>disediakan</a:t>
            </a:r>
            <a:r>
              <a:rPr lang="en-ID" dirty="0"/>
              <a:t>: </a:t>
            </a:r>
            <a:r>
              <a:rPr lang="en-ID" b="1" dirty="0"/>
              <a:t>?action=</a:t>
            </a:r>
            <a:r>
              <a:rPr lang="en-ID" b="1" dirty="0" err="1"/>
              <a:t>debug&amp;mode</a:t>
            </a:r>
            <a:r>
              <a:rPr lang="en-ID" b="1" dirty="0"/>
              <a:t>=true</a:t>
            </a:r>
            <a:r>
              <a:rPr lang="en-ID" dirty="0"/>
              <a:t>.</a:t>
            </a:r>
          </a:p>
          <a:p>
            <a:r>
              <a:rPr lang="en-ID" dirty="0"/>
              <a:t>Halaman </a:t>
            </a:r>
            <a:r>
              <a:rPr lang="en-ID" b="1" dirty="0" err="1"/>
              <a:t>phpinfo</a:t>
            </a:r>
            <a:r>
              <a:rPr lang="en-ID" b="1" dirty="0"/>
              <a:t>()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, </a:t>
            </a:r>
            <a:r>
              <a:rPr lang="en-ID" dirty="0" err="1"/>
              <a:t>membocorkan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lengkap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server, </a:t>
            </a:r>
            <a:r>
              <a:rPr lang="en-ID" dirty="0" err="1"/>
              <a:t>versi</a:t>
            </a:r>
            <a:r>
              <a:rPr lang="en-ID" dirty="0"/>
              <a:t> PHP,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, </a:t>
            </a:r>
            <a:r>
              <a:rPr lang="en-ID" dirty="0" err="1"/>
              <a:t>dll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587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5D2-E05C-3707-B3FB-B4D518E6C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A06:2021 - Vulnerable and Outdated Components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86A6C-A65A-7C19-BEF5-A675DAAD6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?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library, framework,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modul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kerentanan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diketahui</a:t>
            </a:r>
            <a:r>
              <a:rPr lang="en-ID" dirty="0"/>
              <a:t>. </a:t>
            </a:r>
            <a:r>
              <a:rPr lang="en-ID" b="1" dirty="0" err="1"/>
              <a:t>Analogi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ban </a:t>
            </a:r>
            <a:r>
              <a:rPr lang="en-ID" dirty="0" err="1"/>
              <a:t>mobil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gundul</a:t>
            </a:r>
            <a:r>
              <a:rPr lang="en-ID" dirty="0"/>
              <a:t> dan </a:t>
            </a:r>
            <a:r>
              <a:rPr lang="en-ID" dirty="0" err="1"/>
              <a:t>berpotensi</a:t>
            </a:r>
            <a:r>
              <a:rPr lang="en-ID" dirty="0"/>
              <a:t> </a:t>
            </a:r>
            <a:r>
              <a:rPr lang="en-ID" dirty="0" err="1"/>
              <a:t>meledak</a:t>
            </a:r>
            <a:r>
              <a:rPr lang="en-ID" dirty="0"/>
              <a:t>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versi</a:t>
            </a:r>
            <a:r>
              <a:rPr lang="en-ID" dirty="0"/>
              <a:t> lama library </a:t>
            </a:r>
            <a:r>
              <a:rPr lang="en-ID" b="1" dirty="0"/>
              <a:t>log4j</a:t>
            </a:r>
            <a:r>
              <a:rPr lang="en-ID" dirty="0"/>
              <a:t> yang </a:t>
            </a:r>
            <a:r>
              <a:rPr lang="en-ID" dirty="0" err="1"/>
              <a:t>terkenal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kerentanan</a:t>
            </a:r>
            <a:r>
              <a:rPr lang="en-ID" dirty="0"/>
              <a:t> "Log4Shell".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Penyerang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mengeksploitasi</a:t>
            </a:r>
            <a:r>
              <a:rPr lang="en-ID" dirty="0"/>
              <a:t> </a:t>
            </a:r>
            <a:r>
              <a:rPr lang="en-ID" dirty="0" err="1"/>
              <a:t>kerentanan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usaha</a:t>
            </a:r>
            <a:r>
              <a:rPr lang="en-ID" dirty="0"/>
              <a:t> </a:t>
            </a:r>
            <a:r>
              <a:rPr lang="en-ID" dirty="0" err="1"/>
              <a:t>keras</a:t>
            </a:r>
            <a:r>
              <a:rPr lang="en-ID" dirty="0"/>
              <a:t>.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b="1" dirty="0"/>
              <a:t>Software Composition Analysis (SCA)</a:t>
            </a:r>
            <a:r>
              <a:rPr lang="en-ID" dirty="0"/>
              <a:t> tools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memindai</a:t>
            </a:r>
            <a:r>
              <a:rPr lang="en-ID" dirty="0"/>
              <a:t> </a:t>
            </a:r>
            <a:r>
              <a:rPr lang="en-ID" dirty="0" err="1"/>
              <a:t>dependensi</a:t>
            </a:r>
            <a:r>
              <a:rPr lang="en-ID" dirty="0"/>
              <a:t>, update library </a:t>
            </a:r>
            <a:r>
              <a:rPr lang="en-ID" dirty="0" err="1"/>
              <a:t>secara</a:t>
            </a:r>
            <a:r>
              <a:rPr lang="en-ID" dirty="0"/>
              <a:t> rutin, </a:t>
            </a:r>
            <a:r>
              <a:rPr lang="en-ID" dirty="0" err="1"/>
              <a:t>berlangganan</a:t>
            </a:r>
            <a:r>
              <a:rPr lang="en-ID" dirty="0"/>
              <a:t> mailing list </a:t>
            </a:r>
            <a:r>
              <a:rPr lang="en-ID" dirty="0" err="1"/>
              <a:t>keamanan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29259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77F9-E0F4-7E27-2EBB-EFB1D656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A06: Vulnerable and Outdated Components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CC7AD-068B-3A6F-08B0-55FFBBA7A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dirty="0" err="1"/>
              <a:t>Klik</a:t>
            </a:r>
            <a:r>
              <a:rPr lang="en-ID" dirty="0"/>
              <a:t> menu </a:t>
            </a:r>
            <a:r>
              <a:rPr lang="en-ID" b="1" dirty="0"/>
              <a:t>A06: Old Components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b="1" dirty="0" err="1"/>
              <a:t>Tahap</a:t>
            </a:r>
            <a:r>
              <a:rPr lang="en-ID" b="1" dirty="0"/>
              <a:t> 1: </a:t>
            </a:r>
            <a:r>
              <a:rPr lang="en-ID" b="1" dirty="0" err="1"/>
              <a:t>Mengeksploitasi</a:t>
            </a:r>
            <a:r>
              <a:rPr lang="en-ID" b="1" dirty="0"/>
              <a:t> </a:t>
            </a:r>
            <a:r>
              <a:rPr lang="en-ID" b="1" dirty="0" err="1"/>
              <a:t>Komponen</a:t>
            </a:r>
            <a:r>
              <a:rPr lang="en-ID" b="1" dirty="0"/>
              <a:t> </a:t>
            </a:r>
            <a:r>
              <a:rPr lang="en-ID" b="1" dirty="0" err="1"/>
              <a:t>Rentan</a:t>
            </a:r>
            <a:r>
              <a:rPr lang="en-ID" b="1" dirty="0"/>
              <a:t> (</a:t>
            </a:r>
            <a:r>
              <a:rPr lang="en-ID" b="1" dirty="0" err="1"/>
              <a:t>Versi</a:t>
            </a:r>
            <a:r>
              <a:rPr lang="en-ID" b="1" dirty="0"/>
              <a:t> 1.0)</a:t>
            </a:r>
          </a:p>
          <a:p>
            <a:r>
              <a:rPr lang="en-ID" dirty="0"/>
              <a:t>Anda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library yang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: theme-loader-library v1.0 </a:t>
            </a:r>
            <a:r>
              <a:rPr lang="en-ID" dirty="0" err="1"/>
              <a:t>dengan</a:t>
            </a:r>
            <a:r>
              <a:rPr lang="en-ID" dirty="0"/>
              <a:t> CVE LFI.</a:t>
            </a:r>
          </a:p>
          <a:p>
            <a:r>
              <a:rPr lang="en-ID" dirty="0"/>
              <a:t>Di </a:t>
            </a:r>
            <a:r>
              <a:rPr lang="en-ID" dirty="0" err="1"/>
              <a:t>bawahnya</a:t>
            </a:r>
            <a:r>
              <a:rPr lang="en-ID" dirty="0"/>
              <a:t>, </a:t>
            </a:r>
            <a:r>
              <a:rPr lang="en-ID" dirty="0" err="1"/>
              <a:t>ada</a:t>
            </a:r>
            <a:r>
              <a:rPr lang="en-ID" dirty="0"/>
              <a:t> form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memilih</a:t>
            </a:r>
            <a:r>
              <a:rPr lang="en-ID" dirty="0"/>
              <a:t> </a:t>
            </a:r>
            <a:r>
              <a:rPr lang="en-ID" dirty="0" err="1"/>
              <a:t>tema</a:t>
            </a:r>
            <a:r>
              <a:rPr lang="en-ID" dirty="0"/>
              <a:t>. Coba </a:t>
            </a:r>
            <a:r>
              <a:rPr lang="en-ID" dirty="0" err="1"/>
              <a:t>isi</a:t>
            </a:r>
            <a:r>
              <a:rPr lang="en-ID" dirty="0"/>
              <a:t> </a:t>
            </a:r>
            <a:r>
              <a:rPr lang="en-ID" dirty="0" err="1"/>
              <a:t>blue.php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green.php</a:t>
            </a:r>
            <a:r>
              <a:rPr lang="en-ID" dirty="0"/>
              <a:t> dan </a:t>
            </a:r>
            <a:r>
              <a:rPr lang="en-ID" dirty="0" err="1"/>
              <a:t>klik</a:t>
            </a:r>
            <a:r>
              <a:rPr lang="en-ID" dirty="0"/>
              <a:t> "Load Theme". Anda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tema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.</a:t>
            </a:r>
          </a:p>
          <a:p>
            <a:r>
              <a:rPr lang="en-ID" dirty="0" err="1"/>
              <a:t>Sekarang</a:t>
            </a:r>
            <a:r>
              <a:rPr lang="en-ID" dirty="0"/>
              <a:t>, </a:t>
            </a:r>
            <a:r>
              <a:rPr lang="en-ID" dirty="0" err="1"/>
              <a:t>saatnya</a:t>
            </a:r>
            <a:r>
              <a:rPr lang="en-ID" dirty="0"/>
              <a:t> </a:t>
            </a:r>
            <a:r>
              <a:rPr lang="en-ID" dirty="0" err="1"/>
              <a:t>menyerang</a:t>
            </a:r>
            <a:r>
              <a:rPr lang="en-ID" dirty="0"/>
              <a:t>!</a:t>
            </a:r>
          </a:p>
          <a:p>
            <a:r>
              <a:rPr lang="en-ID" dirty="0"/>
              <a:t>Di </a:t>
            </a:r>
            <a:r>
              <a:rPr lang="en-ID" dirty="0" err="1"/>
              <a:t>kolom</a:t>
            </a:r>
            <a:r>
              <a:rPr lang="en-ID" dirty="0"/>
              <a:t> input, </a:t>
            </a:r>
            <a:r>
              <a:rPr lang="en-ID" dirty="0" err="1"/>
              <a:t>masukkan</a:t>
            </a:r>
            <a:r>
              <a:rPr lang="en-ID" dirty="0"/>
              <a:t> payload </a:t>
            </a: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Directory Traversal: ../../secret.txt</a:t>
            </a:r>
          </a:p>
          <a:p>
            <a:r>
              <a:rPr lang="en-ID" dirty="0" err="1"/>
              <a:t>Klik</a:t>
            </a:r>
            <a:r>
              <a:rPr lang="en-ID" dirty="0"/>
              <a:t> Load Theme.</a:t>
            </a:r>
          </a:p>
          <a:p>
            <a:pPr marL="0" indent="0">
              <a:buNone/>
            </a:pPr>
            <a:r>
              <a:rPr lang="en-ID" b="1" dirty="0" err="1"/>
              <a:t>Tahap</a:t>
            </a:r>
            <a:r>
              <a:rPr lang="en-ID" b="1" dirty="0"/>
              <a:t> 2: </a:t>
            </a:r>
            <a:r>
              <a:rPr lang="en-ID" b="1" dirty="0" err="1"/>
              <a:t>Memperbaiki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"Upgrade" </a:t>
            </a:r>
            <a:r>
              <a:rPr lang="en-ID" b="1" dirty="0" err="1"/>
              <a:t>ke</a:t>
            </a:r>
            <a:r>
              <a:rPr lang="en-ID" b="1" dirty="0"/>
              <a:t> </a:t>
            </a:r>
            <a:r>
              <a:rPr lang="en-ID" b="1" dirty="0" err="1"/>
              <a:t>Versi</a:t>
            </a:r>
            <a:r>
              <a:rPr lang="en-ID" b="1" dirty="0"/>
              <a:t> Aman (2.0)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43531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E9DA-5A21-23AE-A40D-20981A30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A07:2021 - Identification and Authentication Failures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E5F17-CA02-CBF4-3495-B8B898391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?</a:t>
            </a:r>
            <a:r>
              <a:rPr lang="en-ID" dirty="0"/>
              <a:t> </a:t>
            </a: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mekanisme</a:t>
            </a:r>
            <a:r>
              <a:rPr lang="en-ID" dirty="0"/>
              <a:t> login dan </a:t>
            </a:r>
            <a:r>
              <a:rPr lang="en-ID" dirty="0" err="1"/>
              <a:t>identifikasi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 (Nama lama: Broken Authentication). </a:t>
            </a:r>
            <a:r>
              <a:rPr lang="en-ID" b="1" dirty="0" err="1"/>
              <a:t>Analogi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Penjaga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yang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dibohongi</a:t>
            </a:r>
            <a:r>
              <a:rPr lang="en-ID" dirty="0"/>
              <a:t>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Membolehkan</a:t>
            </a:r>
            <a:r>
              <a:rPr lang="en-ID" dirty="0"/>
              <a:t> password yang </a:t>
            </a:r>
            <a:r>
              <a:rPr lang="en-ID" dirty="0" err="1"/>
              <a:t>lemah</a:t>
            </a:r>
            <a:r>
              <a:rPr lang="en-ID" dirty="0"/>
              <a:t> (</a:t>
            </a:r>
            <a:r>
              <a:rPr lang="en-ID" b="1" dirty="0"/>
              <a:t>123456</a:t>
            </a:r>
            <a:r>
              <a:rPr lang="en-ID" dirty="0"/>
              <a:t>),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i="1" dirty="0"/>
              <a:t>Multi-Factor Authentication (MFA)</a:t>
            </a:r>
            <a:r>
              <a:rPr lang="en-ID" dirty="0"/>
              <a:t>, </a:t>
            </a:r>
            <a:r>
              <a:rPr lang="en-ID" i="1" dirty="0"/>
              <a:t>session ID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diprediksi</a:t>
            </a:r>
            <a:r>
              <a:rPr lang="en-ID" dirty="0"/>
              <a:t>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Akun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diambil</a:t>
            </a:r>
            <a:r>
              <a:rPr lang="en-ID" dirty="0"/>
              <a:t> </a:t>
            </a:r>
            <a:r>
              <a:rPr lang="en-ID" dirty="0" err="1"/>
              <a:t>alih</a:t>
            </a:r>
            <a:r>
              <a:rPr lang="en-ID" dirty="0"/>
              <a:t> (</a:t>
            </a:r>
            <a:r>
              <a:rPr lang="en-ID" i="1" dirty="0"/>
              <a:t>account takeover</a:t>
            </a:r>
            <a:r>
              <a:rPr lang="en-ID" dirty="0"/>
              <a:t>).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Implementasikan</a:t>
            </a:r>
            <a:r>
              <a:rPr lang="en-ID" dirty="0"/>
              <a:t> </a:t>
            </a:r>
            <a:r>
              <a:rPr lang="en-ID" b="1" dirty="0"/>
              <a:t>MFA</a:t>
            </a:r>
            <a:r>
              <a:rPr lang="en-ID" dirty="0"/>
              <a:t>, </a:t>
            </a:r>
            <a:r>
              <a:rPr lang="en-ID" dirty="0" err="1"/>
              <a:t>kebijakan</a:t>
            </a:r>
            <a:r>
              <a:rPr lang="en-ID" dirty="0"/>
              <a:t> password yang </a:t>
            </a:r>
            <a:r>
              <a:rPr lang="en-ID" dirty="0" err="1"/>
              <a:t>kuat</a:t>
            </a:r>
            <a:r>
              <a:rPr lang="en-ID" dirty="0"/>
              <a:t>,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sesi</a:t>
            </a:r>
            <a:r>
              <a:rPr lang="en-ID" dirty="0"/>
              <a:t> yang </a:t>
            </a:r>
            <a:r>
              <a:rPr lang="en-ID" dirty="0" err="1"/>
              <a:t>aman</a:t>
            </a:r>
            <a:r>
              <a:rPr lang="en-ID" dirty="0"/>
              <a:t>, </a:t>
            </a:r>
            <a:r>
              <a:rPr lang="en-ID" dirty="0" err="1"/>
              <a:t>lakukan</a:t>
            </a:r>
            <a:r>
              <a:rPr lang="en-ID" dirty="0"/>
              <a:t> </a:t>
            </a:r>
            <a:r>
              <a:rPr lang="en-ID" i="1" dirty="0"/>
              <a:t>logging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kegagalan</a:t>
            </a:r>
            <a:r>
              <a:rPr lang="en-ID" dirty="0"/>
              <a:t> login.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37513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04894-F7D7-9C4C-4297-B64E4FB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000" b="1"/>
              <a:t>A07: Identification and Authentication Failures</a:t>
            </a:r>
            <a:endParaRPr lang="en-ID" sz="3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B0E20-A6E6-60C9-6F21-2FFC13DC3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ID" sz="2000" b="1"/>
              <a:t>Brute Force:</a:t>
            </a:r>
            <a:r>
              <a:rPr lang="en-ID" sz="2000"/>
              <a:t> Di halaman login, tidak ada batasan percobaan. Anda bisa mencoba terus-menerus.</a:t>
            </a:r>
          </a:p>
          <a:p>
            <a:r>
              <a:rPr lang="en-ID" sz="2000" b="1"/>
              <a:t>Session ID:</a:t>
            </a:r>
            <a:r>
              <a:rPr lang="en-ID" sz="2000"/>
              <a:t> Perhatikan bahwa setelah login, cookie PHPSESSID akan keluar</a:t>
            </a:r>
          </a:p>
          <a:p>
            <a:endParaRPr lang="en-ID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0F9F6-E2BF-0E2C-DDA2-CB1872B0C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357117"/>
            <a:ext cx="6389346" cy="415307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2554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DFA7-7909-91A2-2B82-5979CDBA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A08:2021 - Software and Data Integrity Failures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86290-0C7F-2555-2EF8-9A58639A7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?</a:t>
            </a:r>
            <a:r>
              <a:rPr lang="en-ID" dirty="0"/>
              <a:t> </a:t>
            </a: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data dan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dimodifikasi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sah</a:t>
            </a:r>
            <a:r>
              <a:rPr lang="en-ID" dirty="0"/>
              <a:t>. </a:t>
            </a:r>
            <a:r>
              <a:rPr lang="en-ID" b="1" dirty="0" err="1"/>
              <a:t>Analogi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Menerima</a:t>
            </a:r>
            <a:r>
              <a:rPr lang="en-ID" dirty="0"/>
              <a:t> </a:t>
            </a:r>
            <a:r>
              <a:rPr lang="en-ID" dirty="0" err="1"/>
              <a:t>paket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kurir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memeriksa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segelnya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utuh</a:t>
            </a:r>
            <a:r>
              <a:rPr lang="en-ID" dirty="0"/>
              <a:t>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i="1" dirty="0"/>
              <a:t>auto-update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server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aman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verifikasi</a:t>
            </a:r>
            <a:r>
              <a:rPr lang="en-ID" dirty="0"/>
              <a:t> </a:t>
            </a:r>
            <a:r>
              <a:rPr lang="en-ID" dirty="0" err="1"/>
              <a:t>tanda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digital (</a:t>
            </a:r>
            <a:r>
              <a:rPr lang="en-ID" i="1" dirty="0"/>
              <a:t>code signing</a:t>
            </a:r>
            <a:r>
              <a:rPr lang="en-ID" dirty="0"/>
              <a:t>).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menjalankan</a:t>
            </a:r>
            <a:r>
              <a:rPr lang="en-ID" dirty="0"/>
              <a:t> malware yang </a:t>
            </a:r>
            <a:r>
              <a:rPr lang="en-ID" dirty="0" err="1"/>
              <a:t>menyamar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update.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b="1" dirty="0"/>
              <a:t>CI/CD pipeline</a:t>
            </a:r>
            <a:r>
              <a:rPr lang="en-ID" dirty="0"/>
              <a:t> yang </a:t>
            </a:r>
            <a:r>
              <a:rPr lang="en-ID" dirty="0" err="1"/>
              <a:t>aman</a:t>
            </a:r>
            <a:r>
              <a:rPr lang="en-ID" dirty="0"/>
              <a:t>, </a:t>
            </a:r>
            <a:r>
              <a:rPr lang="en-ID" dirty="0" err="1"/>
              <a:t>verifikasi</a:t>
            </a:r>
            <a:r>
              <a:rPr lang="en-ID" dirty="0"/>
              <a:t> </a:t>
            </a:r>
            <a:r>
              <a:rPr lang="en-ID" dirty="0" err="1"/>
              <a:t>tanda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digital,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i="1" dirty="0"/>
              <a:t>checksum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12162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980C-A03C-531B-4C1A-41EA4AADA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A08: Software and Data Integrity Failures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35F49-0752-F7A2-7A62-667973CD5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Login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b="1" dirty="0"/>
              <a:t>user1</a:t>
            </a:r>
            <a:r>
              <a:rPr lang="en-ID" dirty="0"/>
              <a:t>.</a:t>
            </a:r>
          </a:p>
          <a:p>
            <a:r>
              <a:rPr lang="en-ID" dirty="0" err="1"/>
              <a:t>Klik</a:t>
            </a:r>
            <a:r>
              <a:rPr lang="en-ID" dirty="0"/>
              <a:t> menu </a:t>
            </a:r>
            <a:r>
              <a:rPr lang="en-ID" b="1" dirty="0"/>
              <a:t>A08: Integrity Failures</a:t>
            </a:r>
            <a:r>
              <a:rPr lang="en-ID" dirty="0"/>
              <a:t>.</a:t>
            </a:r>
          </a:p>
          <a:p>
            <a:r>
              <a:rPr lang="en-ID" dirty="0"/>
              <a:t>Anda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form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role Anda </a:t>
            </a:r>
            <a:r>
              <a:rPr lang="en-ID" dirty="0" err="1"/>
              <a:t>sendiri</a:t>
            </a:r>
            <a:r>
              <a:rPr lang="en-ID" dirty="0"/>
              <a:t>.</a:t>
            </a:r>
          </a:p>
          <a:p>
            <a:r>
              <a:rPr lang="en-ID" dirty="0" err="1"/>
              <a:t>Klik</a:t>
            </a:r>
            <a:r>
              <a:rPr lang="en-ID" dirty="0"/>
              <a:t> </a:t>
            </a:r>
            <a:r>
              <a:rPr lang="en-ID" dirty="0" err="1"/>
              <a:t>kanan</a:t>
            </a:r>
            <a:r>
              <a:rPr lang="en-ID" dirty="0"/>
              <a:t> -&gt; Inspect (</a:t>
            </a:r>
            <a:r>
              <a:rPr lang="en-ID" dirty="0" err="1"/>
              <a:t>Periksa</a:t>
            </a:r>
            <a:r>
              <a:rPr lang="en-ID" dirty="0"/>
              <a:t>) pada </a:t>
            </a:r>
            <a:r>
              <a:rPr lang="en-ID" dirty="0" err="1"/>
              <a:t>halaman</a:t>
            </a:r>
            <a:r>
              <a:rPr lang="en-ID" dirty="0"/>
              <a:t>. Cari input hidden </a:t>
            </a:r>
            <a:r>
              <a:rPr lang="en-ID" b="1" dirty="0"/>
              <a:t>&lt;input type="hidden" name="</a:t>
            </a:r>
            <a:r>
              <a:rPr lang="en-ID" b="1" dirty="0" err="1"/>
              <a:t>user_id</a:t>
            </a:r>
            <a:r>
              <a:rPr lang="en-ID" b="1" dirty="0"/>
              <a:t>" value="2"&gt;</a:t>
            </a:r>
            <a:r>
              <a:rPr lang="en-ID" dirty="0"/>
              <a:t>.</a:t>
            </a:r>
          </a:p>
          <a:p>
            <a:r>
              <a:rPr lang="en-ID" dirty="0"/>
              <a:t>Ubah </a:t>
            </a:r>
            <a:r>
              <a:rPr lang="en-ID" b="1" dirty="0"/>
              <a:t>value="2"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b="1" dirty="0"/>
              <a:t>value="1</a:t>
            </a:r>
            <a:r>
              <a:rPr lang="en-ID" dirty="0"/>
              <a:t> (ID admin).</a:t>
            </a:r>
          </a:p>
          <a:p>
            <a:r>
              <a:rPr lang="en-ID" dirty="0"/>
              <a:t>Di form, </a:t>
            </a:r>
            <a:r>
              <a:rPr lang="en-ID" dirty="0" err="1"/>
              <a:t>ubah</a:t>
            </a:r>
            <a:r>
              <a:rPr lang="en-ID" dirty="0"/>
              <a:t> role </a:t>
            </a:r>
            <a:r>
              <a:rPr lang="en-ID" dirty="0" err="1"/>
              <a:t>menjadi</a:t>
            </a:r>
            <a:r>
              <a:rPr lang="en-ID" dirty="0"/>
              <a:t> "Admin".</a:t>
            </a:r>
          </a:p>
          <a:p>
            <a:r>
              <a:rPr lang="en-ID" dirty="0" err="1"/>
              <a:t>Klik</a:t>
            </a:r>
            <a:r>
              <a:rPr lang="en-ID" dirty="0"/>
              <a:t> "Update Role". Anda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role admin </a:t>
            </a:r>
            <a:r>
              <a:rPr lang="en-ID" dirty="0" err="1"/>
              <a:t>menjadi</a:t>
            </a:r>
            <a:r>
              <a:rPr lang="en-ID" dirty="0"/>
              <a:t> user </a:t>
            </a:r>
            <a:r>
              <a:rPr lang="en-ID" dirty="0" err="1"/>
              <a:t>biasa</a:t>
            </a:r>
            <a:r>
              <a:rPr lang="en-ID" dirty="0"/>
              <a:t> (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sebaliknya</a:t>
            </a:r>
            <a:r>
              <a:rPr lang="en-ID" dirty="0"/>
              <a:t>).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73254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91A7-0EDE-FE94-EAB8-135F4958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A09:2021 - Security Logging and Monitoring Failures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4E025-7FED-BC45-0114-13748E457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?</a:t>
            </a:r>
            <a:r>
              <a:rPr lang="en-ID" dirty="0"/>
              <a:t> Tidak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i="1" dirty="0"/>
              <a:t>logging</a:t>
            </a:r>
            <a:r>
              <a:rPr lang="en-ID" dirty="0"/>
              <a:t> dan </a:t>
            </a:r>
            <a:r>
              <a:rPr lang="en-ID" i="1" dirty="0"/>
              <a:t>monitoring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, </a:t>
            </a:r>
            <a:r>
              <a:rPr lang="en-ID" dirty="0" err="1"/>
              <a:t>merespons</a:t>
            </a:r>
            <a:r>
              <a:rPr lang="en-ID" dirty="0"/>
              <a:t>, dan </a:t>
            </a: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serangan</a:t>
            </a:r>
            <a:r>
              <a:rPr lang="en-ID" dirty="0"/>
              <a:t>. </a:t>
            </a:r>
            <a:r>
              <a:rPr lang="en-ID" b="1" dirty="0" err="1"/>
              <a:t>Analogi</a:t>
            </a:r>
            <a:r>
              <a:rPr lang="en-ID" b="1" dirty="0"/>
              <a:t>:</a:t>
            </a:r>
            <a:r>
              <a:rPr lang="en-ID" dirty="0"/>
              <a:t> Toko </a:t>
            </a:r>
            <a:r>
              <a:rPr lang="en-ID" dirty="0" err="1"/>
              <a:t>tanpa</a:t>
            </a:r>
            <a:r>
              <a:rPr lang="en-ID" dirty="0"/>
              <a:t> CCTV,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 yang </a:t>
            </a:r>
            <a:r>
              <a:rPr lang="en-ID" dirty="0" err="1"/>
              <a:t>mencuri</a:t>
            </a:r>
            <a:r>
              <a:rPr lang="en-ID" dirty="0"/>
              <a:t>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Tidak </a:t>
            </a:r>
            <a:r>
              <a:rPr lang="en-ID" dirty="0" err="1"/>
              <a:t>ada</a:t>
            </a:r>
            <a:r>
              <a:rPr lang="en-ID" dirty="0"/>
              <a:t> log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login yang </a:t>
            </a:r>
            <a:r>
              <a:rPr lang="en-ID" dirty="0" err="1"/>
              <a:t>gagal</a:t>
            </a:r>
            <a:r>
              <a:rPr lang="en-ID" dirty="0"/>
              <a:t>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i="1" dirty="0"/>
              <a:t>alert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mencurigakan</a:t>
            </a:r>
            <a:r>
              <a:rPr lang="en-ID" dirty="0"/>
              <a:t>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Serangan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terdeteksi</a:t>
            </a:r>
            <a:r>
              <a:rPr lang="en-ID" dirty="0"/>
              <a:t> </a:t>
            </a:r>
            <a:r>
              <a:rPr lang="en-ID" dirty="0" err="1"/>
              <a:t>berbulan-bulan</a:t>
            </a:r>
            <a:r>
              <a:rPr lang="en-ID" dirty="0"/>
              <a:t>,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respons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terlambat</a:t>
            </a:r>
            <a:r>
              <a:rPr lang="en-ID" dirty="0"/>
              <a:t>.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:</a:t>
            </a:r>
            <a:r>
              <a:rPr lang="en-ID" dirty="0"/>
              <a:t> Log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kejadian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(login, </a:t>
            </a:r>
            <a:r>
              <a:rPr lang="en-ID" dirty="0" err="1"/>
              <a:t>akses</a:t>
            </a:r>
            <a:r>
              <a:rPr lang="en-ID" dirty="0"/>
              <a:t> data,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konfigurasi</a:t>
            </a:r>
            <a:r>
              <a:rPr lang="en-ID" dirty="0"/>
              <a:t>),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i="1" dirty="0"/>
              <a:t>monitoring</a:t>
            </a:r>
            <a:r>
              <a:rPr lang="en-ID" dirty="0"/>
              <a:t> </a:t>
            </a:r>
            <a:r>
              <a:rPr lang="en-ID" dirty="0" err="1"/>
              <a:t>terpusat</a:t>
            </a:r>
            <a:r>
              <a:rPr lang="en-ID" dirty="0"/>
              <a:t> (SIEM), buat </a:t>
            </a:r>
            <a:r>
              <a:rPr lang="en-ID" i="1" dirty="0"/>
              <a:t>alerting</a:t>
            </a:r>
            <a:r>
              <a:rPr lang="en-ID" dirty="0"/>
              <a:t> yang </a:t>
            </a:r>
            <a:r>
              <a:rPr lang="en-ID" dirty="0" err="1"/>
              <a:t>relevan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74643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F02C-799E-CD9D-52B5-2919DE33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A09: Security Logging and Monitoring Failures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26BF3-C8A9-1C6F-4792-0A607B696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Klik</a:t>
            </a:r>
            <a:r>
              <a:rPr lang="en-ID" dirty="0"/>
              <a:t> menu </a:t>
            </a:r>
            <a:r>
              <a:rPr lang="en-ID" b="1" dirty="0"/>
              <a:t>A09: Logging Failures</a:t>
            </a:r>
            <a:r>
              <a:rPr lang="en-ID" dirty="0"/>
              <a:t>.</a:t>
            </a:r>
          </a:p>
          <a:p>
            <a:r>
              <a:rPr lang="en-ID" dirty="0"/>
              <a:t>Halaman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. Tidak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catatan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 yang login </a:t>
            </a:r>
            <a:r>
              <a:rPr lang="en-ID" dirty="0" err="1"/>
              <a:t>gagal</a:t>
            </a:r>
            <a:r>
              <a:rPr lang="en-ID" dirty="0"/>
              <a:t>, </a:t>
            </a:r>
            <a:r>
              <a:rPr lang="en-ID" dirty="0" err="1"/>
              <a:t>siapa</a:t>
            </a:r>
            <a:r>
              <a:rPr lang="en-ID" dirty="0"/>
              <a:t> yang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profil</a:t>
            </a:r>
            <a:r>
              <a:rPr lang="en-ID" dirty="0"/>
              <a:t> orang lain, </a:t>
            </a:r>
            <a:r>
              <a:rPr lang="en-ID" dirty="0" err="1"/>
              <a:t>dll</a:t>
            </a:r>
            <a:r>
              <a:rPr lang="en-ID" dirty="0"/>
              <a:t>. </a:t>
            </a:r>
            <a:r>
              <a:rPr lang="en-ID" dirty="0" err="1"/>
              <a:t>Seorang</a:t>
            </a:r>
            <a:r>
              <a:rPr lang="en-ID" dirty="0"/>
              <a:t> admin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serangan</a:t>
            </a:r>
            <a:r>
              <a:rPr lang="en-ID" dirty="0"/>
              <a:t> yang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berlangsung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6535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EC73-2321-5245-D6AC-E147C5090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A09: Security Logging and Monitoring Failures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B99F9-90E6-0892-89CC-D81D2FACB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Klik</a:t>
            </a:r>
            <a:r>
              <a:rPr lang="en-ID" dirty="0"/>
              <a:t> menu </a:t>
            </a:r>
            <a:r>
              <a:rPr lang="en-ID" b="1" dirty="0"/>
              <a:t>A09: Logging Failures</a:t>
            </a:r>
            <a:r>
              <a:rPr lang="en-ID" dirty="0"/>
              <a:t>.</a:t>
            </a:r>
          </a:p>
          <a:p>
            <a:r>
              <a:rPr lang="en-ID" dirty="0"/>
              <a:t>Halaman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. Tidak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catatan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 yang login </a:t>
            </a:r>
            <a:r>
              <a:rPr lang="en-ID" dirty="0" err="1"/>
              <a:t>gagal</a:t>
            </a:r>
            <a:r>
              <a:rPr lang="en-ID" dirty="0"/>
              <a:t>, </a:t>
            </a:r>
            <a:r>
              <a:rPr lang="en-ID" dirty="0" err="1"/>
              <a:t>siapa</a:t>
            </a:r>
            <a:r>
              <a:rPr lang="en-ID" dirty="0"/>
              <a:t> yang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profil</a:t>
            </a:r>
            <a:r>
              <a:rPr lang="en-ID" dirty="0"/>
              <a:t> orang lain, </a:t>
            </a:r>
            <a:r>
              <a:rPr lang="en-ID" dirty="0" err="1"/>
              <a:t>dll</a:t>
            </a:r>
            <a:r>
              <a:rPr lang="en-ID" dirty="0"/>
              <a:t>. </a:t>
            </a:r>
            <a:r>
              <a:rPr lang="en-ID" dirty="0" err="1"/>
              <a:t>Seorang</a:t>
            </a:r>
            <a:r>
              <a:rPr lang="en-ID" dirty="0"/>
              <a:t> admin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serangan</a:t>
            </a:r>
            <a:r>
              <a:rPr lang="en-ID" dirty="0"/>
              <a:t> yang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berlangsung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42469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DAB12-0A67-0795-7101-24300FA1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A10:2021 - Server-Side Request Forgery (SSRF)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1C030-9E27-BDFC-E9EC-0FFE36E89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?</a:t>
            </a:r>
            <a:r>
              <a:rPr lang="en-ID" dirty="0"/>
              <a:t> </a:t>
            </a:r>
            <a:r>
              <a:rPr lang="en-ID" dirty="0" err="1"/>
              <a:t>Penyerang</a:t>
            </a:r>
            <a:r>
              <a:rPr lang="en-ID" dirty="0"/>
              <a:t> </a:t>
            </a:r>
            <a:r>
              <a:rPr lang="en-ID" dirty="0" err="1"/>
              <a:t>memaksa</a:t>
            </a:r>
            <a:r>
              <a:rPr lang="en-ID" dirty="0"/>
              <a:t> server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mengirimkan</a:t>
            </a:r>
            <a:r>
              <a:rPr lang="en-ID" dirty="0"/>
              <a:t> request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lokasi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diinginkan</a:t>
            </a:r>
            <a:r>
              <a:rPr lang="en-ID" dirty="0"/>
              <a:t> (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 internal). </a:t>
            </a:r>
            <a:r>
              <a:rPr lang="en-ID" b="1" dirty="0" err="1"/>
              <a:t>Analogi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Menipu</a:t>
            </a:r>
            <a:r>
              <a:rPr lang="en-ID" dirty="0"/>
              <a:t> </a:t>
            </a:r>
            <a:r>
              <a:rPr lang="en-ID" dirty="0" err="1"/>
              <a:t>resepsionis</a:t>
            </a:r>
            <a:r>
              <a:rPr lang="en-ID" dirty="0"/>
              <a:t> hotel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menelepon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kamar</a:t>
            </a:r>
            <a:r>
              <a:rPr lang="en-ID" dirty="0"/>
              <a:t> </a:t>
            </a:r>
            <a:r>
              <a:rPr lang="en-ID" dirty="0" err="1"/>
              <a:t>tamu</a:t>
            </a:r>
            <a:r>
              <a:rPr lang="en-ID" dirty="0"/>
              <a:t> lain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namamu</a:t>
            </a:r>
            <a:r>
              <a:rPr lang="en-ID" dirty="0"/>
              <a:t>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yang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URL (</a:t>
            </a:r>
            <a:r>
              <a:rPr lang="en-ID" b="1" dirty="0"/>
              <a:t>?</a:t>
            </a:r>
            <a:r>
              <a:rPr lang="en-ID" b="1" dirty="0" err="1"/>
              <a:t>url</a:t>
            </a:r>
            <a:r>
              <a:rPr lang="en-ID" b="1" dirty="0"/>
              <a:t>=https://...</a:t>
            </a:r>
            <a:r>
              <a:rPr lang="en-ID" dirty="0"/>
              <a:t>) </a:t>
            </a:r>
            <a:r>
              <a:rPr lang="en-ID" dirty="0" err="1"/>
              <a:t>dimanipulasi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file internal (</a:t>
            </a:r>
            <a:r>
              <a:rPr lang="en-ID" b="1" dirty="0"/>
              <a:t>?</a:t>
            </a:r>
            <a:r>
              <a:rPr lang="en-ID" b="1" dirty="0" err="1"/>
              <a:t>url</a:t>
            </a:r>
            <a:r>
              <a:rPr lang="en-ID" b="1" dirty="0"/>
              <a:t>=file:///etc/passwd</a:t>
            </a:r>
            <a:r>
              <a:rPr lang="en-ID" dirty="0"/>
              <a:t>).</a:t>
            </a:r>
          </a:p>
          <a:p>
            <a:r>
              <a:rPr lang="en-ID" b="1" dirty="0" err="1"/>
              <a:t>Dampak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Pemindaian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 internal,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internal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publik</a:t>
            </a:r>
            <a:r>
              <a:rPr lang="en-ID" dirty="0"/>
              <a:t>.</a:t>
            </a:r>
          </a:p>
          <a:p>
            <a:r>
              <a:rPr lang="en-ID" b="1" dirty="0" err="1"/>
              <a:t>Pencegahan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Validasi</a:t>
            </a:r>
            <a:r>
              <a:rPr lang="en-ID" dirty="0"/>
              <a:t> dan </a:t>
            </a:r>
            <a:r>
              <a:rPr lang="en-ID" i="1" dirty="0"/>
              <a:t>whitelist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URL yang </a:t>
            </a:r>
            <a:r>
              <a:rPr lang="en-ID" dirty="0" err="1"/>
              <a:t>diterima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user, </a:t>
            </a:r>
            <a:r>
              <a:rPr lang="en-ID" dirty="0" err="1"/>
              <a:t>nonaktifkan</a:t>
            </a:r>
            <a:r>
              <a:rPr lang="en-ID" dirty="0"/>
              <a:t> </a:t>
            </a:r>
            <a:r>
              <a:rPr lang="en-ID" i="1" dirty="0"/>
              <a:t>redirect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59866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4F77-7A8E-4EF6-DD78-5BAD8728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A10: Server-Side Request Forgery (SSRF)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FF8C3-85E3-A2EA-25CE-9E579091C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Klik</a:t>
            </a:r>
            <a:r>
              <a:rPr lang="en-ID" dirty="0"/>
              <a:t> menu </a:t>
            </a:r>
            <a:r>
              <a:rPr lang="en-ID" b="1" dirty="0"/>
              <a:t>A10: SSRF</a:t>
            </a:r>
            <a:r>
              <a:rPr lang="en-ID" dirty="0"/>
              <a:t>.</a:t>
            </a:r>
          </a:p>
          <a:p>
            <a:r>
              <a:rPr lang="en-ID" dirty="0"/>
              <a:t>Di </a:t>
            </a:r>
            <a:r>
              <a:rPr lang="en-ID" dirty="0" err="1"/>
              <a:t>kotak</a:t>
            </a:r>
            <a:r>
              <a:rPr lang="en-ID" dirty="0"/>
              <a:t> URL, </a:t>
            </a:r>
            <a:r>
              <a:rPr lang="en-ID" dirty="0" err="1"/>
              <a:t>masukkan</a:t>
            </a:r>
            <a:r>
              <a:rPr lang="en-ID" dirty="0"/>
              <a:t> </a:t>
            </a:r>
            <a:r>
              <a:rPr lang="en-ID" b="1" dirty="0"/>
              <a:t>https://www.google.com</a:t>
            </a:r>
            <a:r>
              <a:rPr lang="en-ID" dirty="0"/>
              <a:t>. </a:t>
            </a:r>
            <a:r>
              <a:rPr lang="en-ID" dirty="0" err="1"/>
              <a:t>Klik</a:t>
            </a:r>
            <a:r>
              <a:rPr lang="en-ID" dirty="0"/>
              <a:t> Fetch. Ini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.</a:t>
            </a:r>
          </a:p>
          <a:p>
            <a:r>
              <a:rPr lang="en-ID" dirty="0" err="1"/>
              <a:t>Sekarang</a:t>
            </a:r>
            <a:r>
              <a:rPr lang="en-ID" dirty="0"/>
              <a:t>, </a:t>
            </a:r>
            <a:r>
              <a:rPr lang="en-ID" dirty="0" err="1"/>
              <a:t>masukkan</a:t>
            </a:r>
            <a:r>
              <a:rPr lang="en-ID" dirty="0"/>
              <a:t> </a:t>
            </a:r>
            <a:r>
              <a:rPr lang="en-ID" b="1" dirty="0"/>
              <a:t>file:///etc/passwd</a:t>
            </a:r>
            <a:r>
              <a:rPr lang="en-ID" dirty="0"/>
              <a:t> (</a:t>
            </a:r>
            <a:r>
              <a:rPr lang="en-ID" dirty="0" err="1"/>
              <a:t>jika</a:t>
            </a:r>
            <a:r>
              <a:rPr lang="en-ID" dirty="0"/>
              <a:t> di Linux/macOS)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b="1" dirty="0"/>
              <a:t>file:///C:/windows/win.ini</a:t>
            </a:r>
            <a:r>
              <a:rPr lang="en-ID" dirty="0"/>
              <a:t> (</a:t>
            </a:r>
            <a:r>
              <a:rPr lang="en-ID" dirty="0" err="1"/>
              <a:t>jika</a:t>
            </a:r>
            <a:r>
              <a:rPr lang="en-ID" dirty="0"/>
              <a:t> di Windows).</a:t>
            </a:r>
          </a:p>
          <a:p>
            <a:r>
              <a:rPr lang="en-ID" dirty="0" err="1"/>
              <a:t>Klik</a:t>
            </a:r>
            <a:r>
              <a:rPr lang="en-ID" dirty="0"/>
              <a:t> Fetch. Server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membaca</a:t>
            </a:r>
            <a:r>
              <a:rPr lang="en-ID" dirty="0"/>
              <a:t> file </a:t>
            </a:r>
            <a:r>
              <a:rPr lang="en-ID" dirty="0" err="1"/>
              <a:t>lokalnya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 dan </a:t>
            </a:r>
            <a:r>
              <a:rPr lang="en-ID" dirty="0" err="1"/>
              <a:t>menampilkannya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Anda. Ini sangat </a:t>
            </a:r>
            <a:r>
              <a:rPr lang="en-ID" dirty="0" err="1"/>
              <a:t>berbahaya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45647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42F3-DEF4-5432-DD67-29E2C34A7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KESIMPULAN &amp; LANGKAH SELANJUTNYA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F3F71-B5BC-DBB8-4258-5BD8D49EF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638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6BC58-3A48-8D68-FA16-BCD9BB8E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Top 10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Segalanya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8082A-F03F-9F25-5E56-F177076A3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Masih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 lain yang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diperhatikan</a:t>
            </a:r>
            <a:r>
              <a:rPr lang="en-ID" dirty="0"/>
              <a:t>:</a:t>
            </a:r>
          </a:p>
          <a:p>
            <a:pPr lvl="1"/>
            <a:r>
              <a:rPr lang="en-ID" b="1" dirty="0"/>
              <a:t>XXE (XML External Entity Injection)</a:t>
            </a:r>
            <a:endParaRPr lang="en-ID" dirty="0"/>
          </a:p>
          <a:p>
            <a:pPr lvl="1"/>
            <a:r>
              <a:rPr lang="en-ID" b="1" dirty="0"/>
              <a:t>Insecure Deserialization</a:t>
            </a:r>
            <a:endParaRPr lang="en-ID" dirty="0"/>
          </a:p>
          <a:p>
            <a:pPr lvl="1"/>
            <a:r>
              <a:rPr lang="en-ID" b="1" dirty="0"/>
              <a:t>API Security Threats</a:t>
            </a:r>
            <a:r>
              <a:rPr lang="en-ID" dirty="0"/>
              <a:t> (</a:t>
            </a:r>
            <a:r>
              <a:rPr lang="en-ID" dirty="0" err="1"/>
              <a:t>Lihat</a:t>
            </a:r>
            <a:r>
              <a:rPr lang="en-ID" dirty="0"/>
              <a:t> </a:t>
            </a:r>
            <a:r>
              <a:rPr lang="en-ID" b="1" dirty="0"/>
              <a:t>OWASP API Security Top 10</a:t>
            </a:r>
            <a:r>
              <a:rPr lang="en-ID" dirty="0"/>
              <a:t>)</a:t>
            </a:r>
          </a:p>
          <a:p>
            <a:r>
              <a:rPr lang="en-ID" dirty="0"/>
              <a:t>Top 10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fondasi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bangunan</a:t>
            </a:r>
            <a:r>
              <a:rPr lang="en-ID" dirty="0"/>
              <a:t> </a:t>
            </a:r>
            <a:r>
              <a:rPr lang="en-ID" dirty="0" err="1"/>
              <a:t>lengkapnya</a:t>
            </a:r>
            <a:r>
              <a:rPr lang="en-ID" dirty="0"/>
              <a:t>.</a:t>
            </a:r>
          </a:p>
          <a:p>
            <a:r>
              <a:rPr lang="en-ID" dirty="0" err="1"/>
              <a:t>Selalu</a:t>
            </a:r>
            <a:r>
              <a:rPr lang="en-ID" dirty="0"/>
              <a:t> update </a:t>
            </a:r>
            <a:r>
              <a:rPr lang="en-ID" dirty="0" err="1"/>
              <a:t>pengetahuan</a:t>
            </a:r>
            <a:r>
              <a:rPr lang="en-ID" dirty="0"/>
              <a:t> Anda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 </a:t>
            </a:r>
            <a:r>
              <a:rPr lang="en-ID" dirty="0" err="1"/>
              <a:t>terus</a:t>
            </a:r>
            <a:r>
              <a:rPr lang="en-ID" dirty="0"/>
              <a:t> </a:t>
            </a:r>
            <a:r>
              <a:rPr lang="en-ID" dirty="0" err="1"/>
              <a:t>berkembang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8932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5465-7818-6A25-97D0-6DC5FD3B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 </a:t>
            </a:r>
            <a:r>
              <a:rPr lang="en-US" b="1" dirty="0" err="1"/>
              <a:t>Poin</a:t>
            </a:r>
            <a:r>
              <a:rPr lang="en-US" b="1" dirty="0"/>
              <a:t> </a:t>
            </a:r>
            <a:r>
              <a:rPr lang="en-US" b="1" dirty="0" err="1"/>
              <a:t>Penting</a:t>
            </a:r>
            <a:r>
              <a:rPr lang="en-US" b="1" dirty="0"/>
              <a:t> (Key Takeaways)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D3FEF-170F-1B90-7C52-84A748D4F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Keamanan</a:t>
            </a:r>
            <a:r>
              <a:rPr lang="en-ID" b="1" dirty="0"/>
              <a:t> </a:t>
            </a:r>
            <a:r>
              <a:rPr lang="en-ID" b="1" dirty="0" err="1"/>
              <a:t>adalah</a:t>
            </a:r>
            <a:r>
              <a:rPr lang="en-ID" b="1" dirty="0"/>
              <a:t> Proses, </a:t>
            </a:r>
            <a:r>
              <a:rPr lang="en-ID" b="1" dirty="0" err="1"/>
              <a:t>Bukan</a:t>
            </a:r>
            <a:r>
              <a:rPr lang="en-ID" b="1" dirty="0"/>
              <a:t> </a:t>
            </a:r>
            <a:r>
              <a:rPr lang="en-ID" b="1" dirty="0" err="1"/>
              <a:t>Produk</a:t>
            </a:r>
            <a:r>
              <a:rPr lang="en-ID" b="1" dirty="0"/>
              <a:t>.</a:t>
            </a:r>
            <a:r>
              <a:rPr lang="en-ID" dirty="0"/>
              <a:t> Ini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siklus</a:t>
            </a:r>
            <a:r>
              <a:rPr lang="en-ID" dirty="0"/>
              <a:t> </a:t>
            </a:r>
            <a:r>
              <a:rPr lang="en-ID" dirty="0" err="1"/>
              <a:t>berkelanjutan</a:t>
            </a:r>
            <a:r>
              <a:rPr lang="en-ID" dirty="0"/>
              <a:t> (Design -&gt; Develop -&gt; Test -&gt; Deploy -&gt; Monitor).</a:t>
            </a:r>
          </a:p>
          <a:p>
            <a:r>
              <a:rPr lang="en-ID" b="1" dirty="0"/>
              <a:t>Shift Left.</a:t>
            </a:r>
            <a:r>
              <a:rPr lang="en-ID" dirty="0"/>
              <a:t> </a:t>
            </a:r>
            <a:r>
              <a:rPr lang="en-ID" dirty="0" err="1"/>
              <a:t>Integrasikan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sejak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fase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, </a:t>
            </a:r>
            <a:r>
              <a:rPr lang="en-ID" dirty="0" err="1"/>
              <a:t>jangan</a:t>
            </a:r>
            <a:r>
              <a:rPr lang="en-ID" dirty="0"/>
              <a:t> di </a:t>
            </a:r>
            <a:r>
              <a:rPr lang="en-ID" dirty="0" err="1"/>
              <a:t>akhir</a:t>
            </a:r>
            <a:r>
              <a:rPr lang="en-ID" dirty="0"/>
              <a:t>.</a:t>
            </a:r>
          </a:p>
          <a:p>
            <a:r>
              <a:rPr lang="en-ID" b="1" dirty="0" err="1"/>
              <a:t>Defense</a:t>
            </a:r>
            <a:r>
              <a:rPr lang="en-ID" b="1" dirty="0"/>
              <a:t> in Depth.</a:t>
            </a:r>
            <a:r>
              <a:rPr lang="en-ID" dirty="0"/>
              <a:t> </a:t>
            </a:r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mengandalkan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lapisan</a:t>
            </a:r>
            <a:r>
              <a:rPr lang="en-ID" dirty="0"/>
              <a:t> </a:t>
            </a:r>
            <a:r>
              <a:rPr lang="en-ID" dirty="0" err="1"/>
              <a:t>pertahanan</a:t>
            </a:r>
            <a:r>
              <a:rPr lang="en-ID" dirty="0"/>
              <a:t>.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kontrol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yang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71786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0C14F-3CD7-C50A-9A9B-EFAFC414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Apa Langkah </a:t>
            </a:r>
            <a:r>
              <a:rPr lang="en-US" b="1" dirty="0" err="1"/>
              <a:t>Selanjutnya</a:t>
            </a:r>
            <a:r>
              <a:rPr lang="en-US" b="1" dirty="0"/>
              <a:t>? (Call to Action)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24B85-1D1F-51DD-C414-35DACBBD0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Untuk</a:t>
            </a:r>
            <a:r>
              <a:rPr lang="en-ID" b="1" dirty="0"/>
              <a:t> Developer:</a:t>
            </a:r>
            <a:endParaRPr lang="en-ID" dirty="0"/>
          </a:p>
          <a:p>
            <a:pPr lvl="1"/>
            <a:r>
              <a:rPr lang="en-ID" dirty="0"/>
              <a:t>Coba </a:t>
            </a:r>
            <a:r>
              <a:rPr lang="en-ID" dirty="0" err="1"/>
              <a:t>praktik</a:t>
            </a:r>
            <a:r>
              <a:rPr lang="en-ID" dirty="0"/>
              <a:t> di lab </a:t>
            </a:r>
            <a:r>
              <a:rPr lang="en-ID" dirty="0" err="1"/>
              <a:t>aman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b="1" dirty="0" err="1"/>
              <a:t>WebGoat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b="1" dirty="0"/>
              <a:t>OWASP Juice Shop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Lakukan</a:t>
            </a:r>
            <a:r>
              <a:rPr lang="en-ID" dirty="0"/>
              <a:t> </a:t>
            </a:r>
            <a:r>
              <a:rPr lang="en-ID" dirty="0" err="1"/>
              <a:t>pemeriksaan</a:t>
            </a:r>
            <a:r>
              <a:rPr lang="en-ID" dirty="0"/>
              <a:t> </a:t>
            </a:r>
            <a:r>
              <a:rPr lang="en-ID" dirty="0" err="1"/>
              <a:t>dependensi</a:t>
            </a:r>
            <a:r>
              <a:rPr lang="en-ID" dirty="0"/>
              <a:t> di project Anda.</a:t>
            </a:r>
          </a:p>
          <a:p>
            <a:pPr lvl="1"/>
            <a:r>
              <a:rPr lang="en-ID" dirty="0"/>
              <a:t>Baca </a:t>
            </a:r>
            <a:r>
              <a:rPr lang="en-ID" dirty="0" err="1"/>
              <a:t>dokumentasi</a:t>
            </a:r>
            <a:r>
              <a:rPr lang="en-ID" dirty="0"/>
              <a:t> OWASP Top 10 2021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lengkap</a:t>
            </a:r>
            <a:r>
              <a:rPr lang="en-ID" dirty="0"/>
              <a:t>.</a:t>
            </a:r>
          </a:p>
          <a:p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Semua</a:t>
            </a:r>
            <a:r>
              <a:rPr lang="en-ID" b="1" dirty="0"/>
              <a:t>:</a:t>
            </a:r>
            <a:endParaRPr lang="en-ID" dirty="0"/>
          </a:p>
          <a:p>
            <a:pPr lvl="1"/>
            <a:r>
              <a:rPr lang="en-ID" dirty="0" err="1"/>
              <a:t>Bangun</a:t>
            </a:r>
            <a:r>
              <a:rPr lang="en-ID" dirty="0"/>
              <a:t> </a:t>
            </a:r>
            <a:r>
              <a:rPr lang="en-ID" dirty="0" err="1"/>
              <a:t>budaya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di </a:t>
            </a:r>
            <a:r>
              <a:rPr lang="en-ID" dirty="0" err="1"/>
              <a:t>tim</a:t>
            </a:r>
            <a:r>
              <a:rPr lang="en-ID" dirty="0"/>
              <a:t> Anda.</a:t>
            </a:r>
          </a:p>
          <a:p>
            <a:pPr lvl="1"/>
            <a:r>
              <a:rPr lang="en-ID" dirty="0" err="1"/>
              <a:t>Jangan</a:t>
            </a:r>
            <a:r>
              <a:rPr lang="en-ID" dirty="0"/>
              <a:t> ragu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bertanya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24966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2199</Words>
  <Application>Microsoft Office PowerPoint</Application>
  <PresentationFormat>Widescreen</PresentationFormat>
  <Paragraphs>179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ui-sans-serif</vt:lpstr>
      <vt:lpstr>Office Theme</vt:lpstr>
      <vt:lpstr>Web Application Threats and OWASP Top 10</vt:lpstr>
      <vt:lpstr>PEMBUKAAN &amp; KONTEKS</vt:lpstr>
      <vt:lpstr>Ancaman Aplikasi Web &amp; OWASP Top 10</vt:lpstr>
      <vt:lpstr>Apa yang Akan Kita Bahas?</vt:lpstr>
      <vt:lpstr>Sedikit Mengingat...</vt:lpstr>
      <vt:lpstr>Biaya dari Sebuah Kesalahan</vt:lpstr>
      <vt:lpstr>Siapa Penyerang dan Apa Motivasi Mereka?</vt:lpstr>
      <vt:lpstr>Apa itu OWASP? Teman Terbaik Para Developer</vt:lpstr>
      <vt:lpstr>Metodologi &amp; Struktur Pembahasan Cara Kita Memahami Setiap Ancaman</vt:lpstr>
      <vt:lpstr>DEEP DIVE OWASP TOP 10 2021</vt:lpstr>
      <vt:lpstr>A01:2021 - Broken Access Control</vt:lpstr>
      <vt:lpstr>A01: Broken Acess Control</vt:lpstr>
      <vt:lpstr>A02:2021 - Cryptographic Failures</vt:lpstr>
      <vt:lpstr>A02: Cryptographic Failures</vt:lpstr>
      <vt:lpstr>A03:2021 - Injection</vt:lpstr>
      <vt:lpstr>A03: Injection</vt:lpstr>
      <vt:lpstr>A04:2021 - Insecure Design</vt:lpstr>
      <vt:lpstr>A04: Insecure Design</vt:lpstr>
      <vt:lpstr>A05:2021 - Security Misconfiguration</vt:lpstr>
      <vt:lpstr>A05: Security Misconfiguration</vt:lpstr>
      <vt:lpstr>A06:2021 - Vulnerable and Outdated Components</vt:lpstr>
      <vt:lpstr>A06: Vulnerable and Outdated Components</vt:lpstr>
      <vt:lpstr>A07:2021 - Identification and Authentication Failures</vt:lpstr>
      <vt:lpstr>A07: Identification and Authentication Failures</vt:lpstr>
      <vt:lpstr>A08:2021 - Software and Data Integrity Failures</vt:lpstr>
      <vt:lpstr>A08: Software and Data Integrity Failures</vt:lpstr>
      <vt:lpstr>A09:2021 - Security Logging and Monitoring Failures</vt:lpstr>
      <vt:lpstr>A09: Security Logging and Monitoring Failures</vt:lpstr>
      <vt:lpstr>A09: Security Logging and Monitoring Failures</vt:lpstr>
      <vt:lpstr>A10:2021 - Server-Side Request Forgery (SSRF)</vt:lpstr>
      <vt:lpstr>A10: Server-Side Request Forgery (SSRF)</vt:lpstr>
      <vt:lpstr>KESIMPULAN &amp; LANGKAH SELANJUTNYA</vt:lpstr>
      <vt:lpstr>OWASP Top 10 Bukan Segalanya</vt:lpstr>
      <vt:lpstr>3 Poin Penting (Key Takeaways)</vt:lpstr>
      <vt:lpstr>Apa Langkah Selanjutnya? (Call to Action)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ROLLY MAULANA AWANGGA</dc:creator>
  <cp:lastModifiedBy>ROLLY MAULANA AWANGGA</cp:lastModifiedBy>
  <cp:revision>75</cp:revision>
  <dcterms:created xsi:type="dcterms:W3CDTF">2025-11-06T17:37:01Z</dcterms:created>
  <dcterms:modified xsi:type="dcterms:W3CDTF">2025-11-09T11:19:18Z</dcterms:modified>
</cp:coreProperties>
</file>